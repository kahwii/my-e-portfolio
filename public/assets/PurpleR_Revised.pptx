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754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 15 sec. Mark says the group name and the short title; each member then says only their own name. Do not read the subtitle aloud.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 — 35 sec. Open with the scene, not the technology: "You order something online, it arrives broken, the seller says no return no exchange." Then the reveal — that policy is prohibited by law. Pause. Do NOT mention RAG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 — 35 sec. This is the argument that separates us. Most groups pick SDG 12 and say "raising awareness". We say something mechanical: the law's remedy ORDER is the waste hierarchy. Say the Lemon Law line slowly — Section 10 forces a returned car to be disclosed and RESOLD, not scrapped. That is circularity written into a statute. Then hand to Ram.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RAM — 50 sec. THIS IS THE SLIDE THE REVISION IS ABOUT. Do not read all the cells. Say: "We went back and surveyed the whole landscape — there are four regimes and they disagree." Then give ONE contrast out loud: the four-repair rule exists only for cars; a laptop repaired four times is still on the thirty-day clock. Then point at the gold card — RA 11967 is from 2023 and most buyers have never heard of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RAM — 40 sec. Narrowness is 30% of the rubric. The move to land: widening the survey did not widen the problem, it SHARPENED it. The question is no longer "what are my rights" but "which law is mine". Walk the chain with your hand and stop on the blue box. Then hand to Sean.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SEAN — 40 sec. Most important slide. Read the question aloud ONCE, slowly. Then the design in one breath: same questions, same model, retrieval on versus off. Then the point that answers the narrowness note: ONE label out of five is scored. The remedy, deadline and first step are read out of whichever law the label names — they are not four separate questions.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SEAN — 40 sec. Two things to land. First: five sources, all public, nothing to request from anyone. Second: the near-miss band is the point — eight items that LOOK like Lemon Law or ITA cases and are not. Say the motorcycle example out loud. End with the last line plainly: the instructions warn against claiming data already collected.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 — 30 sec. Close on scope, not the model — the model is only 10% of the rubric. Naming what you are NOT doing is what makes a scope believable. Finish with "That is our proposal. Thank you." and STOP talking.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731520" y="1417320"/>
            <a:ext cx="7680960" cy="1371600"/>
          </a:xfrm>
          <a:prstGeom prst="rect">
            <a:avLst/>
          </a:prstGeom>
          <a:noFill/>
        </p:spPr>
        <p:txBody>
          <a:bodyPr wrap="square" lIns="0" tIns="0" rIns="0" bIns="0">
            <a:spAutoFit/>
          </a:bodyPr>
          <a:lstStyle/>
          <a:p>
            <a:pPr algn="ctr">
              <a:lnSpc>
                <a:spcPct val="105000"/>
              </a:lnSpc>
              <a:spcBef>
                <a:spcPts val="0"/>
              </a:spcBef>
              <a:spcAft>
                <a:spcPts val="0"/>
              </a:spcAft>
            </a:pPr>
            <a:r>
              <a:rPr sz="4000" b="1" i="0">
                <a:solidFill>
                  <a:srgbClr val="0E2A60"/>
                </a:solidFill>
                <a:latin typeface="Segoe UI"/>
              </a:rPr>
              <a:t>Four Statutes, One Broken Order</a:t>
            </a:r>
          </a:p>
        </p:txBody>
      </p:sp>
      <p:sp>
        <p:nvSpPr>
          <p:cNvPr id="6" name="TextBox 5"/>
          <p:cNvSpPr txBox="1"/>
          <p:nvPr/>
        </p:nvSpPr>
        <p:spPr>
          <a:xfrm>
            <a:off x="1005840" y="2788920"/>
            <a:ext cx="7132320" cy="822960"/>
          </a:xfrm>
          <a:prstGeom prst="rect">
            <a:avLst/>
          </a:prstGeom>
          <a:noFill/>
        </p:spPr>
        <p:txBody>
          <a:bodyPr wrap="square" lIns="0" tIns="0" rIns="0" bIns="0">
            <a:spAutoFit/>
          </a:bodyPr>
          <a:lstStyle/>
          <a:p>
            <a:pPr algn="ctr">
              <a:lnSpc>
                <a:spcPct val="135000"/>
              </a:lnSpc>
              <a:spcBef>
                <a:spcPts val="0"/>
              </a:spcBef>
              <a:spcAft>
                <a:spcPts val="0"/>
              </a:spcAft>
            </a:pPr>
            <a:r>
              <a:rPr sz="1500" b="0" i="0">
                <a:solidFill>
                  <a:srgbClr val="5A6270"/>
                </a:solidFill>
                <a:latin typeface="Segoe UI"/>
              </a:rPr>
              <a:t>A Retrieval-Augmented Chatbot That Routes Philippine Consumer-Remedy Questions to the Law That Actually Governs Them</a:t>
            </a:r>
          </a:p>
        </p:txBody>
      </p:sp>
      <p:sp>
        <p:nvSpPr>
          <p:cNvPr id="7" name="TextBox 6"/>
          <p:cNvSpPr txBox="1"/>
          <p:nvPr/>
        </p:nvSpPr>
        <p:spPr>
          <a:xfrm>
            <a:off x="731520" y="3886200"/>
            <a:ext cx="7680960" cy="1280160"/>
          </a:xfrm>
          <a:prstGeom prst="rect">
            <a:avLst/>
          </a:prstGeom>
          <a:noFill/>
        </p:spPr>
        <p:txBody>
          <a:bodyPr wrap="square" lIns="0" tIns="0" rIns="0" bIns="0">
            <a:spAutoFit/>
          </a:bodyPr>
          <a:lstStyle/>
          <a:p>
            <a:pPr algn="ctr">
              <a:lnSpc>
                <a:spcPct val="120000"/>
              </a:lnSpc>
              <a:spcBef>
                <a:spcPts val="0"/>
              </a:spcBef>
              <a:spcAft>
                <a:spcPts val="0"/>
              </a:spcAft>
            </a:pPr>
            <a:r>
              <a:rPr sz="1500" b="1" i="0">
                <a:solidFill>
                  <a:srgbClr val="14387F"/>
                </a:solidFill>
                <a:latin typeface="Segoe UI"/>
              </a:rPr>
              <a:t>GROUP PURPLE R</a:t>
            </a:r>
          </a:p>
          <a:p>
            <a:pPr algn="ctr">
              <a:lnSpc>
                <a:spcPct val="120000"/>
              </a:lnSpc>
              <a:spcBef>
                <a:spcPts val="700"/>
              </a:spcBef>
              <a:spcAft>
                <a:spcPts val="0"/>
              </a:spcAft>
            </a:pPr>
            <a:r>
              <a:rPr sz="1250" b="0" i="0">
                <a:solidFill>
                  <a:srgbClr val="3C4552"/>
                </a:solidFill>
                <a:latin typeface="Segoe UI"/>
              </a:rPr>
              <a:t>Mark Emmanuel P. Sagarino (Leader)  ·  Ram Kelly Jerzen Leliza  ·  Sean John C. Dizon</a:t>
            </a:r>
          </a:p>
          <a:p>
            <a:pPr algn="ctr">
              <a:lnSpc>
                <a:spcPct val="120000"/>
              </a:lnSpc>
              <a:spcBef>
                <a:spcPts val="500"/>
              </a:spcBef>
              <a:spcAft>
                <a:spcPts val="0"/>
              </a:spcAft>
            </a:pPr>
            <a:r>
              <a:rPr sz="1100" b="0" i="0">
                <a:solidFill>
                  <a:srgbClr val="7B8494"/>
                </a:solidFill>
                <a:latin typeface="Segoe UI"/>
              </a:rPr>
              <a:t>ITCC508 — WW-M2 Group Proposal · Jose Rizal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THE REAL PROBLEM</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Three parties state the rules. Only one is the law.</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65960"/>
            <a:ext cx="7772400" cy="3108960"/>
          </a:xfrm>
          <a:prstGeom prst="rect">
            <a:avLst/>
          </a:prstGeom>
          <a:noFill/>
        </p:spPr>
        <p:txBody>
          <a:bodyPr wrap="square" lIns="0" tIns="0" rIns="0" bIns="0">
            <a:spAutoFit/>
          </a:bodyPr>
          <a:lstStyle/>
          <a:p>
            <a:pPr algn="l">
              <a:lnSpc>
                <a:spcPct val="132000"/>
              </a:lnSpc>
              <a:spcBef>
                <a:spcPts val="0"/>
              </a:spcBef>
              <a:spcAft>
                <a:spcPts val="1600"/>
              </a:spcAft>
            </a:pPr>
            <a:r>
              <a:rPr sz="1500" b="1">
                <a:solidFill>
                  <a:srgbClr val="F5B81C"/>
                </a:solidFill>
                <a:latin typeface="Segoe UI"/>
              </a:rPr>
              <a:t>▪   </a:t>
            </a:r>
            <a:r>
              <a:rPr sz="1500" b="1">
                <a:solidFill>
                  <a:srgbClr val="0E2A60"/>
                </a:solidFill>
                <a:latin typeface="Segoe UI"/>
              </a:rPr>
              <a:t>The seller</a:t>
            </a:r>
            <a:r>
              <a:rPr sz="1500" b="0">
                <a:solidFill>
                  <a:srgbClr val="33393F"/>
                </a:solidFill>
                <a:latin typeface="Segoe UI"/>
              </a:rPr>
              <a:t> posts "No Return, No Exchange" — a policy the Consumer Act prohibits</a:t>
            </a:r>
          </a:p>
          <a:p>
            <a:pPr algn="l">
              <a:lnSpc>
                <a:spcPct val="132000"/>
              </a:lnSpc>
              <a:spcBef>
                <a:spcPts val="0"/>
              </a:spcBef>
              <a:spcAft>
                <a:spcPts val="1600"/>
              </a:spcAft>
            </a:pPr>
            <a:r>
              <a:rPr sz="1500" b="1">
                <a:solidFill>
                  <a:srgbClr val="F5B81C"/>
                </a:solidFill>
                <a:latin typeface="Segoe UI"/>
              </a:rPr>
              <a:t>▪   </a:t>
            </a:r>
            <a:r>
              <a:rPr sz="1500" b="1">
                <a:solidFill>
                  <a:srgbClr val="0E2A60"/>
                </a:solidFill>
                <a:latin typeface="Segoe UI"/>
              </a:rPr>
              <a:t>The platform</a:t>
            </a:r>
            <a:r>
              <a:rPr sz="1500" b="0">
                <a:solidFill>
                  <a:srgbClr val="33393F"/>
                </a:solidFill>
                <a:latin typeface="Segoe UI"/>
              </a:rPr>
              <a:t> sets a refund window — a commercial term, not a legal right</a:t>
            </a:r>
          </a:p>
          <a:p>
            <a:pPr algn="l">
              <a:lnSpc>
                <a:spcPct val="132000"/>
              </a:lnSpc>
              <a:spcBef>
                <a:spcPts val="0"/>
              </a:spcBef>
              <a:spcAft>
                <a:spcPts val="1600"/>
              </a:spcAft>
            </a:pPr>
            <a:r>
              <a:rPr sz="1500" b="1">
                <a:solidFill>
                  <a:srgbClr val="F5B81C"/>
                </a:solidFill>
                <a:latin typeface="Segoe UI"/>
              </a:rPr>
              <a:t>▪   </a:t>
            </a:r>
            <a:r>
              <a:rPr sz="1500" b="1">
                <a:solidFill>
                  <a:srgbClr val="0E2A60"/>
                </a:solidFill>
                <a:latin typeface="Segoe UI"/>
              </a:rPr>
              <a:t>The statute</a:t>
            </a:r>
            <a:r>
              <a:rPr sz="1500" b="0">
                <a:solidFill>
                  <a:srgbClr val="33393F"/>
                </a:solidFill>
                <a:latin typeface="Segoe UI"/>
              </a:rPr>
              <a:t> grants repair, replacement and refund — and almost nobody has read it</a:t>
            </a:r>
          </a:p>
        </p:txBody>
      </p:sp>
      <p:sp>
        <p:nvSpPr>
          <p:cNvPr id="9" name="TextBox 8"/>
          <p:cNvSpPr txBox="1"/>
          <p:nvPr/>
        </p:nvSpPr>
        <p:spPr>
          <a:xfrm>
            <a:off x="685800" y="3977639"/>
            <a:ext cx="7772400" cy="457200"/>
          </a:xfrm>
          <a:prstGeom prst="rect">
            <a:avLst/>
          </a:prstGeom>
          <a:noFill/>
        </p:spPr>
        <p:txBody>
          <a:bodyPr wrap="square" lIns="0" tIns="0" rIns="0" bIns="0">
            <a:spAutoFit/>
          </a:bodyPr>
          <a:lstStyle/>
          <a:p>
            <a:pPr algn="l">
              <a:lnSpc>
                <a:spcPct val="120000"/>
              </a:lnSpc>
              <a:spcBef>
                <a:spcPts val="0"/>
              </a:spcBef>
              <a:spcAft>
                <a:spcPts val="0"/>
              </a:spcAft>
            </a:pPr>
            <a:r>
              <a:rPr sz="1600" b="1" i="0">
                <a:solidFill>
                  <a:srgbClr val="0E2A60"/>
                </a:solidFill>
                <a:latin typeface="Segoe UI"/>
              </a:rPr>
              <a:t>The buyer decides what to do using the least authoritative of the three.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TASK 1 — SELECTED SDG</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SDG 12 — Targets 12.8 and 12.5</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2029968"/>
            <a:ext cx="1691640" cy="566928"/>
          </a:xfrm>
          <a:prstGeom prst="roundRect">
            <a:avLst>
              <a:gd name="adj" fmla="val 7000"/>
            </a:avLst>
          </a:prstGeom>
          <a:solidFill>
            <a:srgbClr val="14387F"/>
          </a:solidFill>
          <a:ln w="25400">
            <a:solidFill>
              <a:srgbClr val="1438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185416"/>
            <a:ext cx="1691640" cy="320040"/>
          </a:xfrm>
          <a:prstGeom prst="rect">
            <a:avLst/>
          </a:prstGeom>
          <a:noFill/>
        </p:spPr>
        <p:txBody>
          <a:bodyPr wrap="square" lIns="0" tIns="0" rIns="0" bIns="0">
            <a:spAutoFit/>
          </a:bodyPr>
          <a:lstStyle/>
          <a:p>
            <a:pPr algn="ctr">
              <a:lnSpc>
                <a:spcPct val="120000"/>
              </a:lnSpc>
              <a:spcBef>
                <a:spcPts val="0"/>
              </a:spcBef>
              <a:spcAft>
                <a:spcPts val="0"/>
              </a:spcAft>
            </a:pPr>
            <a:r>
              <a:rPr sz="1400" b="1" i="0">
                <a:solidFill>
                  <a:srgbClr val="FFFFFF"/>
                </a:solidFill>
                <a:latin typeface="Segoe UI"/>
              </a:rPr>
              <a:t>Repair</a:t>
            </a:r>
          </a:p>
        </p:txBody>
      </p:sp>
      <p:sp>
        <p:nvSpPr>
          <p:cNvPr id="10" name="TextBox 9"/>
          <p:cNvSpPr txBox="1"/>
          <p:nvPr/>
        </p:nvSpPr>
        <p:spPr>
          <a:xfrm>
            <a:off x="2432304" y="2157984"/>
            <a:ext cx="365760" cy="320040"/>
          </a:xfrm>
          <a:prstGeom prst="rect">
            <a:avLst/>
          </a:prstGeom>
          <a:noFill/>
        </p:spPr>
        <p:txBody>
          <a:bodyPr wrap="square" lIns="0" tIns="0" rIns="0" bIns="0">
            <a:spAutoFit/>
          </a:bodyPr>
          <a:lstStyle/>
          <a:p>
            <a:pPr algn="ctr">
              <a:lnSpc>
                <a:spcPct val="120000"/>
              </a:lnSpc>
              <a:spcBef>
                <a:spcPts val="0"/>
              </a:spcBef>
              <a:spcAft>
                <a:spcPts val="0"/>
              </a:spcAft>
            </a:pPr>
            <a:r>
              <a:rPr sz="1600" b="0" i="0">
                <a:solidFill>
                  <a:srgbClr val="98A3B5"/>
                </a:solidFill>
                <a:latin typeface="Segoe UI"/>
              </a:rPr>
              <a:t>→</a:t>
            </a:r>
          </a:p>
        </p:txBody>
      </p:sp>
      <p:sp>
        <p:nvSpPr>
          <p:cNvPr id="11" name="Rounded Rectangle 10"/>
          <p:cNvSpPr/>
          <p:nvPr/>
        </p:nvSpPr>
        <p:spPr>
          <a:xfrm>
            <a:off x="2852928" y="2029968"/>
            <a:ext cx="1691640" cy="566928"/>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52928" y="2185416"/>
            <a:ext cx="1691640" cy="320040"/>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33393F"/>
                </a:solidFill>
                <a:latin typeface="Segoe UI"/>
              </a:rPr>
              <a:t>Replacement</a:t>
            </a:r>
          </a:p>
        </p:txBody>
      </p:sp>
      <p:sp>
        <p:nvSpPr>
          <p:cNvPr id="13" name="TextBox 12"/>
          <p:cNvSpPr txBox="1"/>
          <p:nvPr/>
        </p:nvSpPr>
        <p:spPr>
          <a:xfrm>
            <a:off x="4599432" y="2157984"/>
            <a:ext cx="365760" cy="320040"/>
          </a:xfrm>
          <a:prstGeom prst="rect">
            <a:avLst/>
          </a:prstGeom>
          <a:noFill/>
        </p:spPr>
        <p:txBody>
          <a:bodyPr wrap="square" lIns="0" tIns="0" rIns="0" bIns="0">
            <a:spAutoFit/>
          </a:bodyPr>
          <a:lstStyle/>
          <a:p>
            <a:pPr algn="ctr">
              <a:lnSpc>
                <a:spcPct val="120000"/>
              </a:lnSpc>
              <a:spcBef>
                <a:spcPts val="0"/>
              </a:spcBef>
              <a:spcAft>
                <a:spcPts val="0"/>
              </a:spcAft>
            </a:pPr>
            <a:r>
              <a:rPr sz="1600" b="0" i="0">
                <a:solidFill>
                  <a:srgbClr val="98A3B5"/>
                </a:solidFill>
                <a:latin typeface="Segoe UI"/>
              </a:rPr>
              <a:t>→</a:t>
            </a:r>
          </a:p>
        </p:txBody>
      </p:sp>
      <p:sp>
        <p:nvSpPr>
          <p:cNvPr id="14" name="Rounded Rectangle 13"/>
          <p:cNvSpPr/>
          <p:nvPr/>
        </p:nvSpPr>
        <p:spPr>
          <a:xfrm>
            <a:off x="5020056" y="2029968"/>
            <a:ext cx="1691640" cy="566928"/>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0056" y="2185416"/>
            <a:ext cx="1691640" cy="320040"/>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33393F"/>
                </a:solidFill>
                <a:latin typeface="Segoe UI"/>
              </a:rPr>
              <a:t>Refund</a:t>
            </a:r>
          </a:p>
        </p:txBody>
      </p:sp>
      <p:sp>
        <p:nvSpPr>
          <p:cNvPr id="16" name="TextBox 15"/>
          <p:cNvSpPr txBox="1"/>
          <p:nvPr/>
        </p:nvSpPr>
        <p:spPr>
          <a:xfrm>
            <a:off x="685800" y="2852928"/>
            <a:ext cx="7772400" cy="1691640"/>
          </a:xfrm>
          <a:prstGeom prst="rect">
            <a:avLst/>
          </a:prstGeom>
          <a:noFill/>
        </p:spPr>
        <p:txBody>
          <a:bodyPr wrap="square" lIns="0" tIns="0" rIns="0" bIns="0">
            <a:spAutoFit/>
          </a:bodyPr>
          <a:lstStyle/>
          <a:p>
            <a:pPr algn="l">
              <a:lnSpc>
                <a:spcPct val="135000"/>
              </a:lnSpc>
              <a:spcBef>
                <a:spcPts val="0"/>
              </a:spcBef>
              <a:spcAft>
                <a:spcPts val="0"/>
              </a:spcAft>
            </a:pPr>
            <a:r>
              <a:rPr sz="1450" b="0">
                <a:solidFill>
                  <a:srgbClr val="33393F"/>
                </a:solidFill>
                <a:latin typeface="Segoe UI"/>
              </a:rPr>
              <a:t>The law grants the remedies </a:t>
            </a:r>
            <a:r>
              <a:rPr sz="1450" b="1">
                <a:solidFill>
                  <a:srgbClr val="0E2A60"/>
                </a:solidFill>
                <a:latin typeface="Segoe UI"/>
              </a:rPr>
              <a:t>in that order</a:t>
            </a:r>
            <a:r>
              <a:rPr sz="1450" b="0">
                <a:solidFill>
                  <a:srgbClr val="33393F"/>
                </a:solidFill>
                <a:latin typeface="Segoe UI"/>
              </a:rPr>
              <a:t>. RA 7394 Art. 100 makes correction the first remedy — only if it is not corrected within 30 days may the buyer demand replacement, refund or a price reduction. RA 11967 Sec. 20 sends the same list, in the same order, back to that statute.</a:t>
            </a:r>
          </a:p>
          <a:p>
            <a:pPr algn="l">
              <a:lnSpc>
                <a:spcPct val="135000"/>
              </a:lnSpc>
              <a:spcBef>
                <a:spcPts val="1000"/>
              </a:spcBef>
              <a:spcAft>
                <a:spcPts val="0"/>
              </a:spcAft>
            </a:pPr>
            <a:r>
              <a:rPr sz="1450" b="0">
                <a:solidFill>
                  <a:srgbClr val="33393F"/>
                </a:solidFill>
                <a:latin typeface="Segoe UI"/>
              </a:rPr>
              <a:t>The </a:t>
            </a:r>
            <a:r>
              <a:rPr sz="1450" b="1">
                <a:solidFill>
                  <a:srgbClr val="0E2A60"/>
                </a:solidFill>
                <a:latin typeface="Segoe UI"/>
              </a:rPr>
              <a:t>Lemon Law</a:t>
            </a:r>
            <a:r>
              <a:rPr sz="1450" b="0">
                <a:solidFill>
                  <a:srgbClr val="33393F"/>
                </a:solidFill>
                <a:latin typeface="Segoe UI"/>
              </a:rPr>
              <a:t> pushes hardest of all: RA 10642 Sec. 5 requires </a:t>
            </a:r>
            <a:r>
              <a:rPr sz="1450" b="1">
                <a:solidFill>
                  <a:srgbClr val="0E2A60"/>
                </a:solidFill>
                <a:latin typeface="Segoe UI"/>
              </a:rPr>
              <a:t>four failed repairs</a:t>
            </a:r>
            <a:r>
              <a:rPr sz="1450" b="0">
                <a:solidFill>
                  <a:srgbClr val="33393F"/>
                </a:solidFill>
                <a:latin typeface="Segoe UI"/>
              </a:rPr>
              <a:t> before a buyer may escalate, and Sec. 10 requires a returned vehicle to be disclosed and </a:t>
            </a:r>
            <a:r>
              <a:rPr sz="1450" b="1">
                <a:solidFill>
                  <a:srgbClr val="0E2A60"/>
                </a:solidFill>
                <a:latin typeface="Segoe UI"/>
              </a:rPr>
              <a:t>resold</a:t>
            </a:r>
            <a:r>
              <a:rPr sz="1450" b="0">
                <a:solidFill>
                  <a:srgbClr val="33393F"/>
                </a:solidFill>
                <a:latin typeface="Segoe UI"/>
              </a:rPr>
              <a:t> — not written off.</a:t>
            </a:r>
          </a:p>
        </p:txBody>
      </p:sp>
      <p:sp>
        <p:nvSpPr>
          <p:cNvPr id="17" name="TextBox 16"/>
          <p:cNvSpPr txBox="1"/>
          <p:nvPr/>
        </p:nvSpPr>
        <p:spPr>
          <a:xfrm>
            <a:off x="685800" y="4846320"/>
            <a:ext cx="7772400" cy="457200"/>
          </a:xfrm>
          <a:prstGeom prst="rect">
            <a:avLst/>
          </a:prstGeom>
          <a:noFill/>
        </p:spPr>
        <p:txBody>
          <a:bodyPr wrap="square" lIns="0" tIns="0" rIns="0" bIns="0">
            <a:spAutoFit/>
          </a:bodyPr>
          <a:lstStyle/>
          <a:p>
            <a:pPr algn="l">
              <a:lnSpc>
                <a:spcPct val="120000"/>
              </a:lnSpc>
              <a:spcBef>
                <a:spcPts val="0"/>
              </a:spcBef>
              <a:spcAft>
                <a:spcPts val="0"/>
              </a:spcAft>
            </a:pPr>
            <a:r>
              <a:rPr sz="1550" b="1" i="0">
                <a:solidFill>
                  <a:srgbClr val="0E2A60"/>
                </a:solidFill>
                <a:latin typeface="Segoe UI"/>
              </a:rPr>
              <a:t>Reuse is the statutory default. The information gap is what turns it into waste.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WHAT WE EXPLORED</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Four remedy regimes. They do not agree.</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2029968"/>
            <a:ext cx="1865376" cy="23317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176272"/>
            <a:ext cx="1591056" cy="2039112"/>
          </a:xfrm>
          <a:prstGeom prst="rect">
            <a:avLst/>
          </a:prstGeom>
          <a:noFill/>
        </p:spPr>
        <p:txBody>
          <a:bodyPr wrap="square" lIns="0" tIns="0" rIns="0" bIns="0">
            <a:spAutoFit/>
          </a:bodyPr>
          <a:lstStyle/>
          <a:p>
            <a:pPr algn="l">
              <a:lnSpc>
                <a:spcPct val="120000"/>
              </a:lnSpc>
              <a:spcBef>
                <a:spcPts val="0"/>
              </a:spcBef>
              <a:spcAft>
                <a:spcPts val="0"/>
              </a:spcAft>
            </a:pPr>
            <a:r>
              <a:rPr sz="1500" b="1" i="0">
                <a:solidFill>
                  <a:srgbClr val="14387F"/>
                </a:solidFill>
                <a:latin typeface="Segoe UI"/>
              </a:rPr>
              <a:t>RA 7394</a:t>
            </a:r>
          </a:p>
          <a:p>
            <a:pPr algn="l">
              <a:lnSpc>
                <a:spcPct val="115000"/>
              </a:lnSpc>
              <a:spcBef>
                <a:spcPts val="200"/>
              </a:spcBef>
              <a:spcAft>
                <a:spcPts val="0"/>
              </a:spcAft>
            </a:pPr>
            <a:r>
              <a:rPr sz="800" b="0" i="0">
                <a:solidFill>
                  <a:srgbClr val="8A93A3"/>
                </a:solidFill>
                <a:latin typeface="Segoe UI"/>
              </a:rPr>
              <a:t>CONSUMER ACT · 1992</a:t>
            </a:r>
          </a:p>
          <a:p>
            <a:pPr algn="l">
              <a:lnSpc>
                <a:spcPct val="130000"/>
              </a:lnSpc>
              <a:spcBef>
                <a:spcPts val="800"/>
              </a:spcBef>
              <a:spcAft>
                <a:spcPts val="0"/>
              </a:spcAft>
            </a:pPr>
            <a:r>
              <a:rPr sz="1100" b="0" i="0">
                <a:solidFill>
                  <a:srgbClr val="33393F"/>
                </a:solidFill>
                <a:latin typeface="Segoe UI"/>
              </a:rPr>
              <a:t>All consumer goods. The general regime.</a:t>
            </a:r>
          </a:p>
          <a:p>
            <a:pPr algn="l">
              <a:lnSpc>
                <a:spcPct val="130000"/>
              </a:lnSpc>
              <a:spcBef>
                <a:spcPts val="1000"/>
              </a:spcBef>
              <a:spcAft>
                <a:spcPts val="0"/>
              </a:spcAft>
            </a:pPr>
            <a:r>
              <a:rPr sz="1050" b="0">
                <a:solidFill>
                  <a:srgbClr val="0E2A60"/>
                </a:solidFill>
                <a:latin typeface="Segoe UI"/>
              </a:rPr>
              <a:t>Not corrected in </a:t>
            </a:r>
            <a:r>
              <a:rPr sz="1050" b="1">
                <a:solidFill>
                  <a:srgbClr val="0E2A60"/>
                </a:solidFill>
                <a:latin typeface="Segoe UI"/>
              </a:rPr>
              <a:t>30 days</a:t>
            </a:r>
            <a:r>
              <a:rPr sz="1050" b="0">
                <a:solidFill>
                  <a:srgbClr val="0E2A60"/>
                </a:solidFill>
                <a:latin typeface="Segoe UI"/>
              </a:rPr>
              <a:t> → replacement or refund (Art. 100)</a:t>
            </a:r>
          </a:p>
        </p:txBody>
      </p:sp>
      <p:sp>
        <p:nvSpPr>
          <p:cNvPr id="10" name="Rounded Rectangle 9"/>
          <p:cNvSpPr/>
          <p:nvPr/>
        </p:nvSpPr>
        <p:spPr>
          <a:xfrm>
            <a:off x="2688336" y="2029968"/>
            <a:ext cx="1865376" cy="23317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25496" y="2176272"/>
            <a:ext cx="1591056" cy="2039112"/>
          </a:xfrm>
          <a:prstGeom prst="rect">
            <a:avLst/>
          </a:prstGeom>
          <a:noFill/>
        </p:spPr>
        <p:txBody>
          <a:bodyPr wrap="square" lIns="0" tIns="0" rIns="0" bIns="0">
            <a:spAutoFit/>
          </a:bodyPr>
          <a:lstStyle/>
          <a:p>
            <a:pPr algn="l">
              <a:lnSpc>
                <a:spcPct val="120000"/>
              </a:lnSpc>
              <a:spcBef>
                <a:spcPts val="0"/>
              </a:spcBef>
              <a:spcAft>
                <a:spcPts val="0"/>
              </a:spcAft>
            </a:pPr>
            <a:r>
              <a:rPr sz="1500" b="1" i="0">
                <a:solidFill>
                  <a:srgbClr val="14387F"/>
                </a:solidFill>
                <a:latin typeface="Segoe UI"/>
              </a:rPr>
              <a:t>RA 8792</a:t>
            </a:r>
          </a:p>
          <a:p>
            <a:pPr algn="l">
              <a:lnSpc>
                <a:spcPct val="115000"/>
              </a:lnSpc>
              <a:spcBef>
                <a:spcPts val="200"/>
              </a:spcBef>
              <a:spcAft>
                <a:spcPts val="0"/>
              </a:spcAft>
            </a:pPr>
            <a:r>
              <a:rPr sz="800" b="0" i="0">
                <a:solidFill>
                  <a:srgbClr val="8A93A3"/>
                </a:solidFill>
                <a:latin typeface="Segoe UI"/>
              </a:rPr>
              <a:t>E-COMMERCE ACT · 2000</a:t>
            </a:r>
          </a:p>
          <a:p>
            <a:pPr algn="l">
              <a:lnSpc>
                <a:spcPct val="130000"/>
              </a:lnSpc>
              <a:spcBef>
                <a:spcPts val="800"/>
              </a:spcBef>
              <a:spcAft>
                <a:spcPts val="0"/>
              </a:spcAft>
            </a:pPr>
            <a:r>
              <a:rPr sz="1100" b="0" i="0">
                <a:solidFill>
                  <a:srgbClr val="33393F"/>
                </a:solidFill>
                <a:latin typeface="Segoe UI"/>
              </a:rPr>
              <a:t>Anything done through electronic records.</a:t>
            </a:r>
          </a:p>
          <a:p>
            <a:pPr algn="l">
              <a:lnSpc>
                <a:spcPct val="130000"/>
              </a:lnSpc>
              <a:spcBef>
                <a:spcPts val="1000"/>
              </a:spcBef>
              <a:spcAft>
                <a:spcPts val="0"/>
              </a:spcAft>
            </a:pPr>
            <a:r>
              <a:rPr sz="1050" b="0">
                <a:solidFill>
                  <a:srgbClr val="0E2A60"/>
                </a:solidFill>
                <a:latin typeface="Segoe UI"/>
              </a:rPr>
              <a:t>Sec. 33(c): </a:t>
            </a:r>
            <a:r>
              <a:rPr sz="1050" b="1">
                <a:solidFill>
                  <a:srgbClr val="0E2A60"/>
                </a:solidFill>
                <a:latin typeface="Segoe UI"/>
              </a:rPr>
              <a:t>same penalties online</a:t>
            </a:r>
            <a:r>
              <a:rPr sz="1050" b="0">
                <a:solidFill>
                  <a:srgbClr val="0E2A60"/>
                </a:solidFill>
                <a:latin typeface="Segoe UI"/>
              </a:rPr>
              <a:t>. Chat logs are evidence</a:t>
            </a:r>
          </a:p>
        </p:txBody>
      </p:sp>
      <p:sp>
        <p:nvSpPr>
          <p:cNvPr id="12" name="Rounded Rectangle 11"/>
          <p:cNvSpPr/>
          <p:nvPr/>
        </p:nvSpPr>
        <p:spPr>
          <a:xfrm>
            <a:off x="4690872" y="2029968"/>
            <a:ext cx="1865376" cy="23317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28032" y="2176272"/>
            <a:ext cx="1591056" cy="2039112"/>
          </a:xfrm>
          <a:prstGeom prst="rect">
            <a:avLst/>
          </a:prstGeom>
          <a:noFill/>
        </p:spPr>
        <p:txBody>
          <a:bodyPr wrap="square" lIns="0" tIns="0" rIns="0" bIns="0">
            <a:spAutoFit/>
          </a:bodyPr>
          <a:lstStyle/>
          <a:p>
            <a:pPr algn="l">
              <a:lnSpc>
                <a:spcPct val="120000"/>
              </a:lnSpc>
              <a:spcBef>
                <a:spcPts val="0"/>
              </a:spcBef>
              <a:spcAft>
                <a:spcPts val="0"/>
              </a:spcAft>
            </a:pPr>
            <a:r>
              <a:rPr sz="1500" b="1" i="0">
                <a:solidFill>
                  <a:srgbClr val="14387F"/>
                </a:solidFill>
                <a:latin typeface="Segoe UI"/>
              </a:rPr>
              <a:t>RA 10642</a:t>
            </a:r>
          </a:p>
          <a:p>
            <a:pPr algn="l">
              <a:lnSpc>
                <a:spcPct val="115000"/>
              </a:lnSpc>
              <a:spcBef>
                <a:spcPts val="200"/>
              </a:spcBef>
              <a:spcAft>
                <a:spcPts val="0"/>
              </a:spcAft>
            </a:pPr>
            <a:r>
              <a:rPr sz="800" b="0" i="0">
                <a:solidFill>
                  <a:srgbClr val="8A93A3"/>
                </a:solidFill>
                <a:latin typeface="Segoe UI"/>
              </a:rPr>
              <a:t>LEMON LAW · 2014</a:t>
            </a:r>
          </a:p>
          <a:p>
            <a:pPr algn="l">
              <a:lnSpc>
                <a:spcPct val="130000"/>
              </a:lnSpc>
              <a:spcBef>
                <a:spcPts val="800"/>
              </a:spcBef>
              <a:spcAft>
                <a:spcPts val="0"/>
              </a:spcAft>
            </a:pPr>
            <a:r>
              <a:rPr sz="1100" b="0" i="0">
                <a:solidFill>
                  <a:srgbClr val="33393F"/>
                </a:solidFill>
                <a:latin typeface="Segoe UI"/>
              </a:rPr>
              <a:t>Brand-new four-wheeled vehicles only. Motorcycles excluded.</a:t>
            </a:r>
          </a:p>
          <a:p>
            <a:pPr algn="l">
              <a:lnSpc>
                <a:spcPct val="130000"/>
              </a:lnSpc>
              <a:spcBef>
                <a:spcPts val="1000"/>
              </a:spcBef>
              <a:spcAft>
                <a:spcPts val="0"/>
              </a:spcAft>
            </a:pPr>
            <a:r>
              <a:rPr sz="1050" b="1">
                <a:solidFill>
                  <a:srgbClr val="0E2A60"/>
                </a:solidFill>
                <a:latin typeface="Segoe UI"/>
              </a:rPr>
              <a:t>4 failed repairs</a:t>
            </a:r>
            <a:r>
              <a:rPr sz="1050" b="0">
                <a:solidFill>
                  <a:srgbClr val="0E2A60"/>
                </a:solidFill>
                <a:latin typeface="Segoe UI"/>
              </a:rPr>
              <a:t>, 12 mos / 20,000 km. DTI exclusive</a:t>
            </a:r>
          </a:p>
        </p:txBody>
      </p:sp>
      <p:sp>
        <p:nvSpPr>
          <p:cNvPr id="14" name="Rounded Rectangle 13"/>
          <p:cNvSpPr/>
          <p:nvPr/>
        </p:nvSpPr>
        <p:spPr>
          <a:xfrm>
            <a:off x="6693408" y="2029968"/>
            <a:ext cx="1865376" cy="2331720"/>
          </a:xfrm>
          <a:prstGeom prst="roundRect">
            <a:avLst>
              <a:gd name="adj" fmla="val 7000"/>
            </a:avLst>
          </a:prstGeom>
          <a:solidFill>
            <a:srgbClr val="FFFDF6"/>
          </a:solidFill>
          <a:ln w="31750">
            <a:solidFill>
              <a:srgbClr val="F5B8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30568" y="2176272"/>
            <a:ext cx="1591056" cy="2039112"/>
          </a:xfrm>
          <a:prstGeom prst="rect">
            <a:avLst/>
          </a:prstGeom>
          <a:noFill/>
        </p:spPr>
        <p:txBody>
          <a:bodyPr wrap="square" lIns="0" tIns="0" rIns="0" bIns="0">
            <a:spAutoFit/>
          </a:bodyPr>
          <a:lstStyle/>
          <a:p>
            <a:pPr algn="l">
              <a:lnSpc>
                <a:spcPct val="120000"/>
              </a:lnSpc>
              <a:spcBef>
                <a:spcPts val="0"/>
              </a:spcBef>
              <a:spcAft>
                <a:spcPts val="0"/>
              </a:spcAft>
            </a:pPr>
            <a:r>
              <a:rPr sz="1500" b="1" i="0">
                <a:solidFill>
                  <a:srgbClr val="8A6100"/>
                </a:solidFill>
                <a:latin typeface="Segoe UI"/>
              </a:rPr>
              <a:t>RA 11967</a:t>
            </a:r>
          </a:p>
          <a:p>
            <a:pPr algn="l">
              <a:lnSpc>
                <a:spcPct val="115000"/>
              </a:lnSpc>
              <a:spcBef>
                <a:spcPts val="200"/>
              </a:spcBef>
              <a:spcAft>
                <a:spcPts val="0"/>
              </a:spcAft>
            </a:pPr>
            <a:r>
              <a:rPr sz="800" b="0" i="0">
                <a:solidFill>
                  <a:srgbClr val="8A93A3"/>
                </a:solidFill>
                <a:latin typeface="Segoe UI"/>
              </a:rPr>
              <a:t>INTERNET TRANSACTIONS · 2023</a:t>
            </a:r>
          </a:p>
          <a:p>
            <a:pPr algn="l">
              <a:lnSpc>
                <a:spcPct val="130000"/>
              </a:lnSpc>
              <a:spcBef>
                <a:spcPts val="800"/>
              </a:spcBef>
              <a:spcAft>
                <a:spcPts val="0"/>
              </a:spcAft>
            </a:pPr>
            <a:r>
              <a:rPr sz="1100" b="0" i="0">
                <a:solidFill>
                  <a:srgbClr val="33393F"/>
                </a:solidFill>
                <a:latin typeface="Segoe UI"/>
              </a:rPr>
              <a:t>Business-to-consumer online. C2C excluded.</a:t>
            </a:r>
          </a:p>
          <a:p>
            <a:pPr algn="l">
              <a:lnSpc>
                <a:spcPct val="130000"/>
              </a:lnSpc>
              <a:spcBef>
                <a:spcPts val="1000"/>
              </a:spcBef>
              <a:spcAft>
                <a:spcPts val="0"/>
              </a:spcAft>
            </a:pPr>
            <a:r>
              <a:rPr sz="1050" b="0">
                <a:solidFill>
                  <a:srgbClr val="0E2A60"/>
                </a:solidFill>
                <a:latin typeface="Segoe UI"/>
              </a:rPr>
              <a:t>Platform redress first — </a:t>
            </a:r>
            <a:r>
              <a:rPr sz="1050" b="1">
                <a:solidFill>
                  <a:srgbClr val="0E2A60"/>
                </a:solidFill>
                <a:latin typeface="Segoe UI"/>
              </a:rPr>
              <a:t>7 calendar days</a:t>
            </a:r>
            <a:r>
              <a:rPr sz="1050" b="0">
                <a:solidFill>
                  <a:srgbClr val="0E2A60"/>
                </a:solidFill>
                <a:latin typeface="Segoe UI"/>
              </a:rPr>
              <a:t> (Sec. 24)</a:t>
            </a:r>
          </a:p>
        </p:txBody>
      </p:sp>
      <p:sp>
        <p:nvSpPr>
          <p:cNvPr id="16" name="TextBox 15"/>
          <p:cNvSpPr txBox="1"/>
          <p:nvPr/>
        </p:nvSpPr>
        <p:spPr>
          <a:xfrm>
            <a:off x="685800" y="4617720"/>
            <a:ext cx="7772400" cy="457200"/>
          </a:xfrm>
          <a:prstGeom prst="rect">
            <a:avLst/>
          </a:prstGeom>
          <a:noFill/>
        </p:spPr>
        <p:txBody>
          <a:bodyPr wrap="square" lIns="0" tIns="0" rIns="0" bIns="0">
            <a:spAutoFit/>
          </a:bodyPr>
          <a:lstStyle/>
          <a:p>
            <a:pPr algn="l">
              <a:lnSpc>
                <a:spcPct val="120000"/>
              </a:lnSpc>
              <a:spcBef>
                <a:spcPts val="0"/>
              </a:spcBef>
              <a:spcAft>
                <a:spcPts val="0"/>
              </a:spcAft>
            </a:pPr>
            <a:r>
              <a:rPr sz="1550" b="1" i="0">
                <a:solidFill>
                  <a:srgbClr val="0E2A60"/>
                </a:solidFill>
                <a:latin typeface="Segoe UI"/>
              </a:rPr>
              <a:t>Different trigger, different clock, different forum — for the same broken item.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TASK 2 — NARROWING</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Widening the survey made the problem narrower</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2176272"/>
            <a:ext cx="1924812" cy="5029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313432"/>
            <a:ext cx="1924812" cy="274320"/>
          </a:xfrm>
          <a:prstGeom prst="rect">
            <a:avLst/>
          </a:prstGeom>
          <a:noFill/>
        </p:spPr>
        <p:txBody>
          <a:bodyPr wrap="square" lIns="0" tIns="0" rIns="0" bIns="0">
            <a:spAutoFit/>
          </a:bodyPr>
          <a:lstStyle/>
          <a:p>
            <a:pPr algn="ctr">
              <a:lnSpc>
                <a:spcPct val="120000"/>
              </a:lnSpc>
              <a:spcBef>
                <a:spcPts val="0"/>
              </a:spcBef>
              <a:spcAft>
                <a:spcPts val="0"/>
              </a:spcAft>
            </a:pPr>
            <a:r>
              <a:rPr sz="1050" b="0" i="0">
                <a:solidFill>
                  <a:srgbClr val="33393F"/>
                </a:solidFill>
                <a:latin typeface="Segoe UI"/>
              </a:rPr>
              <a:t>Consumer protection</a:t>
            </a:r>
          </a:p>
        </p:txBody>
      </p:sp>
      <p:sp>
        <p:nvSpPr>
          <p:cNvPr id="10" name="TextBox 9"/>
          <p:cNvSpPr txBox="1"/>
          <p:nvPr/>
        </p:nvSpPr>
        <p:spPr>
          <a:xfrm>
            <a:off x="2619756" y="2295144"/>
            <a:ext cx="274320" cy="274320"/>
          </a:xfrm>
          <a:prstGeom prst="rect">
            <a:avLst/>
          </a:prstGeom>
          <a:noFill/>
        </p:spPr>
        <p:txBody>
          <a:bodyPr wrap="square" lIns="0" tIns="0" rIns="0" bIns="0">
            <a:spAutoFit/>
          </a:bodyPr>
          <a:lstStyle/>
          <a:p>
            <a:pPr algn="ctr">
              <a:lnSpc>
                <a:spcPct val="120000"/>
              </a:lnSpc>
              <a:spcBef>
                <a:spcPts val="0"/>
              </a:spcBef>
              <a:spcAft>
                <a:spcPts val="0"/>
              </a:spcAft>
            </a:pPr>
            <a:r>
              <a:rPr sz="1500" b="0" i="0">
                <a:solidFill>
                  <a:srgbClr val="98A3B5"/>
                </a:solidFill>
                <a:latin typeface="Segoe UI"/>
              </a:rPr>
              <a:t>→</a:t>
            </a:r>
          </a:p>
        </p:txBody>
      </p:sp>
      <p:sp>
        <p:nvSpPr>
          <p:cNvPr id="11" name="Rounded Rectangle 10"/>
          <p:cNvSpPr/>
          <p:nvPr/>
        </p:nvSpPr>
        <p:spPr>
          <a:xfrm>
            <a:off x="2894076" y="2176272"/>
            <a:ext cx="2011679" cy="5029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94076" y="2313432"/>
            <a:ext cx="2011679" cy="274320"/>
          </a:xfrm>
          <a:prstGeom prst="rect">
            <a:avLst/>
          </a:prstGeom>
          <a:noFill/>
        </p:spPr>
        <p:txBody>
          <a:bodyPr wrap="square" lIns="0" tIns="0" rIns="0" bIns="0">
            <a:spAutoFit/>
          </a:bodyPr>
          <a:lstStyle/>
          <a:p>
            <a:pPr algn="ctr">
              <a:lnSpc>
                <a:spcPct val="120000"/>
              </a:lnSpc>
              <a:spcBef>
                <a:spcPts val="0"/>
              </a:spcBef>
              <a:spcAft>
                <a:spcPts val="0"/>
              </a:spcAft>
            </a:pPr>
            <a:r>
              <a:rPr sz="1050" b="0" i="0">
                <a:solidFill>
                  <a:srgbClr val="33393F"/>
                </a:solidFill>
                <a:latin typeface="Segoe UI"/>
              </a:rPr>
              <a:t>SDG 12 · 12.8 + 12.5</a:t>
            </a:r>
          </a:p>
        </p:txBody>
      </p:sp>
      <p:sp>
        <p:nvSpPr>
          <p:cNvPr id="13" name="TextBox 12"/>
          <p:cNvSpPr txBox="1"/>
          <p:nvPr/>
        </p:nvSpPr>
        <p:spPr>
          <a:xfrm>
            <a:off x="4914900" y="2295144"/>
            <a:ext cx="274320" cy="274320"/>
          </a:xfrm>
          <a:prstGeom prst="rect">
            <a:avLst/>
          </a:prstGeom>
          <a:noFill/>
        </p:spPr>
        <p:txBody>
          <a:bodyPr wrap="square" lIns="0" tIns="0" rIns="0" bIns="0">
            <a:spAutoFit/>
          </a:bodyPr>
          <a:lstStyle/>
          <a:p>
            <a:pPr algn="ctr">
              <a:lnSpc>
                <a:spcPct val="120000"/>
              </a:lnSpc>
              <a:spcBef>
                <a:spcPts val="0"/>
              </a:spcBef>
              <a:spcAft>
                <a:spcPts val="0"/>
              </a:spcAft>
            </a:pPr>
            <a:r>
              <a:rPr sz="1500" b="0" i="0">
                <a:solidFill>
                  <a:srgbClr val="98A3B5"/>
                </a:solidFill>
                <a:latin typeface="Segoe UI"/>
              </a:rPr>
              <a:t>→</a:t>
            </a:r>
          </a:p>
        </p:txBody>
      </p:sp>
      <p:sp>
        <p:nvSpPr>
          <p:cNvPr id="14" name="Rounded Rectangle 13"/>
          <p:cNvSpPr/>
          <p:nvPr/>
        </p:nvSpPr>
        <p:spPr>
          <a:xfrm>
            <a:off x="5189220" y="2176272"/>
            <a:ext cx="2359152" cy="502920"/>
          </a:xfrm>
          <a:prstGeom prst="roundRect">
            <a:avLst>
              <a:gd name="adj" fmla="val 7000"/>
            </a:avLst>
          </a:prstGeom>
          <a:solidFill>
            <a:srgbClr val="FFFFFF"/>
          </a:solidFill>
          <a:ln w="15875">
            <a:solidFill>
              <a:srgbClr val="CFD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89220" y="2313432"/>
            <a:ext cx="2359152" cy="274320"/>
          </a:xfrm>
          <a:prstGeom prst="rect">
            <a:avLst/>
          </a:prstGeom>
          <a:noFill/>
        </p:spPr>
        <p:txBody>
          <a:bodyPr wrap="square" lIns="0" tIns="0" rIns="0" bIns="0">
            <a:spAutoFit/>
          </a:bodyPr>
          <a:lstStyle/>
          <a:p>
            <a:pPr algn="ctr">
              <a:lnSpc>
                <a:spcPct val="120000"/>
              </a:lnSpc>
              <a:spcBef>
                <a:spcPts val="0"/>
              </a:spcBef>
              <a:spcAft>
                <a:spcPts val="0"/>
              </a:spcAft>
            </a:pPr>
            <a:r>
              <a:rPr sz="1050" b="0" i="0">
                <a:solidFill>
                  <a:srgbClr val="33393F"/>
                </a:solidFill>
                <a:latin typeface="Segoe UI"/>
              </a:rPr>
              <a:t>Filipino online shoppers</a:t>
            </a:r>
          </a:p>
        </p:txBody>
      </p:sp>
      <p:sp>
        <p:nvSpPr>
          <p:cNvPr id="16" name="Rounded Rectangle 15"/>
          <p:cNvSpPr/>
          <p:nvPr/>
        </p:nvSpPr>
        <p:spPr>
          <a:xfrm>
            <a:off x="685800" y="2907791"/>
            <a:ext cx="7772400" cy="713232"/>
          </a:xfrm>
          <a:prstGeom prst="roundRect">
            <a:avLst>
              <a:gd name="adj" fmla="val 7000"/>
            </a:avLst>
          </a:prstGeom>
          <a:solidFill>
            <a:srgbClr val="14387F"/>
          </a:solidFill>
          <a:ln w="25400">
            <a:solidFill>
              <a:srgbClr val="1438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3118104"/>
            <a:ext cx="7406640" cy="457200"/>
          </a:xfrm>
          <a:prstGeom prst="rect">
            <a:avLst/>
          </a:prstGeom>
          <a:noFill/>
        </p:spPr>
        <p:txBody>
          <a:bodyPr wrap="square" lIns="0" tIns="0" rIns="0" bIns="0">
            <a:spAutoFit/>
          </a:bodyPr>
          <a:lstStyle/>
          <a:p>
            <a:pPr algn="ctr">
              <a:lnSpc>
                <a:spcPct val="120000"/>
              </a:lnSpc>
              <a:spcBef>
                <a:spcPts val="0"/>
              </a:spcBef>
              <a:spcAft>
                <a:spcPts val="0"/>
              </a:spcAft>
            </a:pPr>
            <a:r>
              <a:rPr sz="1500" b="1" i="0">
                <a:solidFill>
                  <a:srgbClr val="FFFFFF"/>
                </a:solidFill>
                <a:latin typeface="Segoe UI"/>
              </a:rPr>
              <a:t>Which of the four governs MY purchase — and what is my first step?</a:t>
            </a:r>
          </a:p>
        </p:txBody>
      </p:sp>
      <p:sp>
        <p:nvSpPr>
          <p:cNvPr id="18" name="TextBox 17"/>
          <p:cNvSpPr txBox="1"/>
          <p:nvPr/>
        </p:nvSpPr>
        <p:spPr>
          <a:xfrm>
            <a:off x="685800" y="3675887"/>
            <a:ext cx="7772400" cy="1188720"/>
          </a:xfrm>
          <a:prstGeom prst="rect">
            <a:avLst/>
          </a:prstGeom>
          <a:noFill/>
        </p:spPr>
        <p:txBody>
          <a:bodyPr wrap="square" lIns="0" tIns="0" rIns="0" bIns="0">
            <a:spAutoFit/>
          </a:bodyPr>
          <a:lstStyle/>
          <a:p>
            <a:pPr algn="l">
              <a:lnSpc>
                <a:spcPct val="135000"/>
              </a:lnSpc>
              <a:spcBef>
                <a:spcPts val="0"/>
              </a:spcBef>
              <a:spcAft>
                <a:spcPts val="0"/>
              </a:spcAft>
            </a:pPr>
            <a:r>
              <a:rPr sz="1450" b="0">
                <a:solidFill>
                  <a:srgbClr val="33393F"/>
                </a:solidFill>
                <a:latin typeface="Segoe UI"/>
              </a:rPr>
              <a:t>Four facts decide the answer, and buyers do not know any of them are decisive: </a:t>
            </a:r>
            <a:r>
              <a:rPr sz="1450" b="1">
                <a:solidFill>
                  <a:srgbClr val="0E2A60"/>
                </a:solidFill>
                <a:latin typeface="Segoe UI"/>
              </a:rPr>
              <a:t>who sold it</a:t>
            </a:r>
            <a:r>
              <a:rPr sz="1450" b="0">
                <a:solidFill>
                  <a:srgbClr val="33393F"/>
                </a:solidFill>
                <a:latin typeface="Segoe UI"/>
              </a:rPr>
              <a:t> (a business or a private person), </a:t>
            </a:r>
            <a:r>
              <a:rPr sz="1450" b="1">
                <a:solidFill>
                  <a:srgbClr val="0E2A60"/>
                </a:solidFill>
                <a:latin typeface="Segoe UI"/>
              </a:rPr>
              <a:t>was the platform’s own complaint process used first</a:t>
            </a:r>
            <a:r>
              <a:rPr sz="1450" b="0">
                <a:solidFill>
                  <a:srgbClr val="33393F"/>
                </a:solidFill>
                <a:latin typeface="Segoe UI"/>
              </a:rPr>
              <a:t>, </a:t>
            </a:r>
            <a:r>
              <a:rPr sz="1450" b="1">
                <a:solidFill>
                  <a:srgbClr val="0E2A60"/>
                </a:solidFill>
                <a:latin typeface="Segoe UI"/>
              </a:rPr>
              <a:t>what kind of item</a:t>
            </a:r>
            <a:r>
              <a:rPr sz="1450" b="0">
                <a:solidFill>
                  <a:srgbClr val="33393F"/>
                </a:solidFill>
                <a:latin typeface="Segoe UI"/>
              </a:rPr>
              <a:t> it is, and </a:t>
            </a:r>
            <a:r>
              <a:rPr sz="1450" b="1">
                <a:solidFill>
                  <a:srgbClr val="0E2A60"/>
                </a:solidFill>
                <a:latin typeface="Segoe UI"/>
              </a:rPr>
              <a:t>how long ago</a:t>
            </a:r>
            <a:r>
              <a:rPr sz="1450" b="0">
                <a:solidFill>
                  <a:srgbClr val="33393F"/>
                </a:solidFill>
                <a:latin typeface="Segoe UI"/>
              </a:rPr>
              <a:t> it arrived.</a:t>
            </a:r>
          </a:p>
        </p:txBody>
      </p:sp>
      <p:sp>
        <p:nvSpPr>
          <p:cNvPr id="19" name="TextBox 18"/>
          <p:cNvSpPr txBox="1"/>
          <p:nvPr/>
        </p:nvSpPr>
        <p:spPr>
          <a:xfrm>
            <a:off x="685800" y="5029200"/>
            <a:ext cx="7772400" cy="457200"/>
          </a:xfrm>
          <a:prstGeom prst="rect">
            <a:avLst/>
          </a:prstGeom>
          <a:noFill/>
        </p:spPr>
        <p:txBody>
          <a:bodyPr wrap="square" lIns="0" tIns="0" rIns="0" bIns="0">
            <a:spAutoFit/>
          </a:bodyPr>
          <a:lstStyle/>
          <a:p>
            <a:pPr algn="l">
              <a:lnSpc>
                <a:spcPct val="120000"/>
              </a:lnSpc>
              <a:spcBef>
                <a:spcPts val="0"/>
              </a:spcBef>
              <a:spcAft>
                <a:spcPts val="0"/>
              </a:spcAft>
            </a:pPr>
            <a:r>
              <a:rPr sz="1550" b="1" i="0">
                <a:solidFill>
                  <a:srgbClr val="0E2A60"/>
                </a:solidFill>
                <a:latin typeface="Segoe UI"/>
              </a:rPr>
              <a:t>Getting the routing wrong does not give a worse answer. It forfeits the claim.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TASK 3 — RESEARCH QUESTION</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One question, one scored label</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2011680"/>
            <a:ext cx="7772400" cy="1481328"/>
          </a:xfrm>
          <a:prstGeom prst="roundRect">
            <a:avLst>
              <a:gd name="adj" fmla="val 7000"/>
            </a:avLst>
          </a:prstGeom>
          <a:solidFill>
            <a:srgbClr val="F2F6FD"/>
          </a:solidFill>
          <a:ln w="9525">
            <a:solidFill>
              <a:srgbClr val="F2F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011680"/>
            <a:ext cx="64008" cy="14813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1832" y="2194560"/>
            <a:ext cx="7269480" cy="1188720"/>
          </a:xfrm>
          <a:prstGeom prst="rect">
            <a:avLst/>
          </a:prstGeom>
          <a:noFill/>
        </p:spPr>
        <p:txBody>
          <a:bodyPr wrap="square" lIns="0" tIns="0" rIns="0" bIns="0">
            <a:spAutoFit/>
          </a:bodyPr>
          <a:lstStyle/>
          <a:p>
            <a:pPr algn="l">
              <a:lnSpc>
                <a:spcPct val="134000"/>
              </a:lnSpc>
              <a:spcBef>
                <a:spcPts val="0"/>
              </a:spcBef>
              <a:spcAft>
                <a:spcPts val="0"/>
              </a:spcAft>
            </a:pPr>
            <a:r>
              <a:rPr sz="1500" b="0">
                <a:solidFill>
                  <a:srgbClr val="33393F"/>
                </a:solidFill>
                <a:latin typeface="Segoe UI"/>
              </a:rPr>
              <a:t>To what extent does </a:t>
            </a:r>
            <a:r>
              <a:rPr sz="1500" b="1">
                <a:solidFill>
                  <a:srgbClr val="0E2A60"/>
                </a:solidFill>
                <a:latin typeface="Segoe UI"/>
              </a:rPr>
              <a:t>retrieval grounding</a:t>
            </a:r>
            <a:r>
              <a:rPr sz="1500" b="0">
                <a:solidFill>
                  <a:srgbClr val="33393F"/>
                </a:solidFill>
                <a:latin typeface="Segoe UI"/>
              </a:rPr>
              <a:t> improve the accuracy of </a:t>
            </a:r>
            <a:r>
              <a:rPr sz="1500" b="1">
                <a:solidFill>
                  <a:srgbClr val="0E2A60"/>
                </a:solidFill>
                <a:latin typeface="Segoe UI"/>
              </a:rPr>
              <a:t>statutory routing</a:t>
            </a:r>
            <a:r>
              <a:rPr sz="1500" b="0">
                <a:solidFill>
                  <a:srgbClr val="33393F"/>
                </a:solidFill>
                <a:latin typeface="Segoe UI"/>
              </a:rPr>
              <a:t> — identifying which Philippine instrument governs a described defective purchase — compared with a </a:t>
            </a:r>
            <a:r>
              <a:rPr sz="1500" b="1">
                <a:solidFill>
                  <a:srgbClr val="0E2A60"/>
                </a:solidFill>
                <a:latin typeface="Segoe UI"/>
              </a:rPr>
              <a:t>non-RAG baseline</a:t>
            </a:r>
            <a:r>
              <a:rPr sz="1500" b="0">
                <a:solidFill>
                  <a:srgbClr val="33393F"/>
                </a:solidFill>
                <a:latin typeface="Segoe UI"/>
              </a:rPr>
              <a:t> using the same language model?</a:t>
            </a:r>
          </a:p>
        </p:txBody>
      </p:sp>
      <p:sp>
        <p:nvSpPr>
          <p:cNvPr id="11" name="TextBox 10"/>
          <p:cNvSpPr txBox="1"/>
          <p:nvPr/>
        </p:nvSpPr>
        <p:spPr>
          <a:xfrm>
            <a:off x="685800" y="3657600"/>
            <a:ext cx="7772400" cy="822960"/>
          </a:xfrm>
          <a:prstGeom prst="rect">
            <a:avLst/>
          </a:prstGeom>
          <a:noFill/>
        </p:spPr>
        <p:txBody>
          <a:bodyPr wrap="square" lIns="0" tIns="0" rIns="0" bIns="0">
            <a:spAutoFit/>
          </a:bodyPr>
          <a:lstStyle/>
          <a:p>
            <a:pPr algn="l">
              <a:lnSpc>
                <a:spcPct val="135000"/>
              </a:lnSpc>
              <a:spcBef>
                <a:spcPts val="0"/>
              </a:spcBef>
              <a:spcAft>
                <a:spcPts val="0"/>
              </a:spcAft>
            </a:pPr>
            <a:r>
              <a:rPr sz="1400" b="0" i="0">
                <a:solidFill>
                  <a:srgbClr val="33393F"/>
                </a:solidFill>
                <a:latin typeface="Segoe UI"/>
              </a:rPr>
              <a:t>Same questions. Same model. Retrieval on, retrieval off — so any difference is attributable to retrieval, not to one model being smarter.</a:t>
            </a:r>
          </a:p>
        </p:txBody>
      </p:sp>
      <p:sp>
        <p:nvSpPr>
          <p:cNvPr id="12" name="Rounded Rectangle 11"/>
          <p:cNvSpPr/>
          <p:nvPr/>
        </p:nvSpPr>
        <p:spPr>
          <a:xfrm>
            <a:off x="685800" y="4480560"/>
            <a:ext cx="7772400" cy="914400"/>
          </a:xfrm>
          <a:prstGeom prst="roundRect">
            <a:avLst>
              <a:gd name="adj" fmla="val 7000"/>
            </a:avLst>
          </a:prstGeom>
          <a:solidFill>
            <a:srgbClr val="FFFAF0"/>
          </a:solidFill>
          <a:ln w="15875">
            <a:solidFill>
              <a:srgbClr val="F0D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 y="4608576"/>
            <a:ext cx="7443216" cy="658368"/>
          </a:xfrm>
          <a:prstGeom prst="rect">
            <a:avLst/>
          </a:prstGeom>
          <a:noFill/>
        </p:spPr>
        <p:txBody>
          <a:bodyPr wrap="square" lIns="0" tIns="0" rIns="0" bIns="0">
            <a:spAutoFit/>
          </a:bodyPr>
          <a:lstStyle/>
          <a:p>
            <a:pPr algn="l">
              <a:lnSpc>
                <a:spcPct val="130000"/>
              </a:lnSpc>
              <a:spcBef>
                <a:spcPts val="0"/>
              </a:spcBef>
              <a:spcAft>
                <a:spcPts val="0"/>
              </a:spcAft>
            </a:pPr>
            <a:r>
              <a:rPr sz="1250" b="0">
                <a:solidFill>
                  <a:srgbClr val="5C4A1E"/>
                </a:solidFill>
                <a:latin typeface="Segoe UI"/>
              </a:rPr>
              <a:t>The system returns </a:t>
            </a:r>
            <a:r>
              <a:rPr sz="1250" b="1">
                <a:solidFill>
                  <a:srgbClr val="0E2A60"/>
                </a:solidFill>
                <a:latin typeface="Segoe UI"/>
              </a:rPr>
              <a:t>one label</a:t>
            </a:r>
            <a:r>
              <a:rPr sz="1250" b="0">
                <a:solidFill>
                  <a:srgbClr val="5C4A1E"/>
                </a:solidFill>
                <a:latin typeface="Segoe UI"/>
              </a:rPr>
              <a:t>: RA 7394 · RA 8792 · RA 10642 · RA 11967 · none. The remedy, deadline and first step are then read out of that law — checked for groundedness, not scored as separate answers.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TASK 4 — DATA</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Five public sources, forty test items</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28800"/>
            <a:ext cx="3657600" cy="274320"/>
          </a:xfrm>
          <a:prstGeom prst="rect">
            <a:avLst/>
          </a:prstGeom>
          <a:noFill/>
        </p:spPr>
        <p:txBody>
          <a:bodyPr wrap="square" lIns="0" tIns="0" rIns="0" bIns="0">
            <a:spAutoFit/>
          </a:bodyPr>
          <a:lstStyle/>
          <a:p>
            <a:pPr algn="l">
              <a:lnSpc>
                <a:spcPct val="120000"/>
              </a:lnSpc>
              <a:spcBef>
                <a:spcPts val="0"/>
              </a:spcBef>
              <a:spcAft>
                <a:spcPts val="0"/>
              </a:spcAft>
            </a:pPr>
            <a:r>
              <a:rPr sz="1000" b="1" i="0">
                <a:solidFill>
                  <a:srgbClr val="14387F"/>
                </a:solidFill>
                <a:latin typeface="Segoe UI"/>
              </a:rPr>
              <a:t>KNOWLEDGE BASE — ALL PUBLIC</a:t>
            </a:r>
          </a:p>
        </p:txBody>
      </p:sp>
      <p:sp>
        <p:nvSpPr>
          <p:cNvPr id="9" name="TextBox 8"/>
          <p:cNvSpPr txBox="1"/>
          <p:nvPr/>
        </p:nvSpPr>
        <p:spPr>
          <a:xfrm>
            <a:off x="740664" y="2121408"/>
            <a:ext cx="3657600" cy="2011680"/>
          </a:xfrm>
          <a:prstGeom prst="rect">
            <a:avLst/>
          </a:prstGeom>
          <a:noFill/>
        </p:spPr>
        <p:txBody>
          <a:bodyPr wrap="square" lIns="0" tIns="0" rIns="0" bIns="0">
            <a:spAutoFit/>
          </a:bodyPr>
          <a:lstStyle/>
          <a:p>
            <a:pPr algn="l">
              <a:lnSpc>
                <a:spcPct val="125000"/>
              </a:lnSpc>
              <a:spcBef>
                <a:spcPts val="0"/>
              </a:spcBef>
              <a:spcAft>
                <a:spcPts val="700"/>
              </a:spcAft>
            </a:pPr>
            <a:r>
              <a:rPr sz="1250" b="0" i="0">
                <a:solidFill>
                  <a:srgbClr val="33393F"/>
                </a:solidFill>
                <a:latin typeface="Segoe UI"/>
              </a:rPr>
              <a:t>•  RA 7394 — Consumer Act</a:t>
            </a:r>
          </a:p>
          <a:p>
            <a:pPr algn="l">
              <a:lnSpc>
                <a:spcPct val="125000"/>
              </a:lnSpc>
              <a:spcBef>
                <a:spcPts val="0"/>
              </a:spcBef>
              <a:spcAft>
                <a:spcPts val="700"/>
              </a:spcAft>
            </a:pPr>
            <a:r>
              <a:rPr sz="1250" b="0" i="0">
                <a:solidFill>
                  <a:srgbClr val="33393F"/>
                </a:solidFill>
                <a:latin typeface="Segoe UI"/>
              </a:rPr>
              <a:t>•  RA 8792 — E-Commerce Act</a:t>
            </a:r>
          </a:p>
          <a:p>
            <a:pPr algn="l">
              <a:lnSpc>
                <a:spcPct val="125000"/>
              </a:lnSpc>
              <a:spcBef>
                <a:spcPts val="0"/>
              </a:spcBef>
              <a:spcAft>
                <a:spcPts val="700"/>
              </a:spcAft>
            </a:pPr>
            <a:r>
              <a:rPr sz="1250" b="0" i="0">
                <a:solidFill>
                  <a:srgbClr val="33393F"/>
                </a:solidFill>
                <a:latin typeface="Segoe UI"/>
              </a:rPr>
              <a:t>•  RA 10642 — Philippine Lemon Law</a:t>
            </a:r>
          </a:p>
          <a:p>
            <a:pPr algn="l">
              <a:lnSpc>
                <a:spcPct val="125000"/>
              </a:lnSpc>
              <a:spcBef>
                <a:spcPts val="0"/>
              </a:spcBef>
              <a:spcAft>
                <a:spcPts val="700"/>
              </a:spcAft>
            </a:pPr>
            <a:r>
              <a:rPr sz="1250" b="0" i="0">
                <a:solidFill>
                  <a:srgbClr val="33393F"/>
                </a:solidFill>
                <a:latin typeface="Segoe UI"/>
              </a:rPr>
              <a:t>•  RA 11967 — Internet Transactions Act</a:t>
            </a:r>
          </a:p>
          <a:p>
            <a:pPr algn="l">
              <a:lnSpc>
                <a:spcPct val="125000"/>
              </a:lnSpc>
              <a:spcBef>
                <a:spcPts val="0"/>
              </a:spcBef>
              <a:spcAft>
                <a:spcPts val="700"/>
              </a:spcAft>
            </a:pPr>
            <a:r>
              <a:rPr sz="1250" b="0" i="0">
                <a:solidFill>
                  <a:srgbClr val="33393F"/>
                </a:solidFill>
                <a:latin typeface="Segoe UI"/>
              </a:rPr>
              <a:t>•  DTI FAQ + FTEB complaint procedure</a:t>
            </a:r>
          </a:p>
        </p:txBody>
      </p:sp>
      <p:sp>
        <p:nvSpPr>
          <p:cNvPr id="10" name="TextBox 9"/>
          <p:cNvSpPr txBox="1"/>
          <p:nvPr/>
        </p:nvSpPr>
        <p:spPr>
          <a:xfrm>
            <a:off x="4892040" y="1828800"/>
            <a:ext cx="3566160" cy="274320"/>
          </a:xfrm>
          <a:prstGeom prst="rect">
            <a:avLst/>
          </a:prstGeom>
          <a:noFill/>
        </p:spPr>
        <p:txBody>
          <a:bodyPr wrap="square" lIns="0" tIns="0" rIns="0" bIns="0">
            <a:spAutoFit/>
          </a:bodyPr>
          <a:lstStyle/>
          <a:p>
            <a:pPr algn="l">
              <a:lnSpc>
                <a:spcPct val="120000"/>
              </a:lnSpc>
              <a:spcBef>
                <a:spcPts val="0"/>
              </a:spcBef>
              <a:spcAft>
                <a:spcPts val="0"/>
              </a:spcAft>
            </a:pPr>
            <a:r>
              <a:rPr sz="1000" b="1" i="0">
                <a:solidFill>
                  <a:srgbClr val="14387F"/>
                </a:solidFill>
                <a:latin typeface="Segoe UI"/>
              </a:rPr>
              <a:t>EVALUATION SET — 40 ITEMS</a:t>
            </a:r>
          </a:p>
        </p:txBody>
      </p:sp>
      <p:sp>
        <p:nvSpPr>
          <p:cNvPr id="11" name="TextBox 10"/>
          <p:cNvSpPr txBox="1"/>
          <p:nvPr/>
        </p:nvSpPr>
        <p:spPr>
          <a:xfrm>
            <a:off x="4892040" y="2139696"/>
            <a:ext cx="411480" cy="274320"/>
          </a:xfrm>
          <a:prstGeom prst="rect">
            <a:avLst/>
          </a:prstGeom>
          <a:noFill/>
        </p:spPr>
        <p:txBody>
          <a:bodyPr wrap="square" lIns="0" tIns="0" rIns="0" bIns="0">
            <a:spAutoFit/>
          </a:bodyPr>
          <a:lstStyle/>
          <a:p>
            <a:pPr algn="l">
              <a:lnSpc>
                <a:spcPct val="120000"/>
              </a:lnSpc>
              <a:spcBef>
                <a:spcPts val="0"/>
              </a:spcBef>
              <a:spcAft>
                <a:spcPts val="0"/>
              </a:spcAft>
            </a:pPr>
            <a:r>
              <a:rPr sz="1250" b="1" i="0">
                <a:solidFill>
                  <a:srgbClr val="0E2A60"/>
                </a:solidFill>
                <a:latin typeface="Segoe UI"/>
              </a:rPr>
              <a:t>10</a:t>
            </a:r>
          </a:p>
        </p:txBody>
      </p:sp>
      <p:sp>
        <p:nvSpPr>
          <p:cNvPr id="12" name="TextBox 11"/>
          <p:cNvSpPr txBox="1"/>
          <p:nvPr/>
        </p:nvSpPr>
        <p:spPr>
          <a:xfrm>
            <a:off x="5349240" y="2139696"/>
            <a:ext cx="3108960" cy="320040"/>
          </a:xfrm>
          <a:prstGeom prst="rect">
            <a:avLst/>
          </a:prstGeom>
          <a:noFill/>
        </p:spPr>
        <p:txBody>
          <a:bodyPr wrap="square" lIns="0" tIns="0" rIns="0" bIns="0">
            <a:spAutoFit/>
          </a:bodyPr>
          <a:lstStyle/>
          <a:p>
            <a:pPr algn="l">
              <a:lnSpc>
                <a:spcPct val="120000"/>
              </a:lnSpc>
              <a:spcBef>
                <a:spcPts val="0"/>
              </a:spcBef>
              <a:spcAft>
                <a:spcPts val="0"/>
              </a:spcAft>
            </a:pPr>
            <a:r>
              <a:rPr sz="1200" b="0" i="0">
                <a:solidFill>
                  <a:srgbClr val="33393F"/>
                </a:solidFill>
                <a:latin typeface="Segoe UI"/>
              </a:rPr>
              <a:t>General regime — RA 7394</a:t>
            </a:r>
          </a:p>
        </p:txBody>
      </p:sp>
      <p:sp>
        <p:nvSpPr>
          <p:cNvPr id="13" name="Rectangle 12"/>
          <p:cNvSpPr/>
          <p:nvPr/>
        </p:nvSpPr>
        <p:spPr>
          <a:xfrm>
            <a:off x="4892040" y="2414015"/>
            <a:ext cx="3566160" cy="10972"/>
          </a:xfrm>
          <a:prstGeom prst="rect">
            <a:avLst/>
          </a:prstGeom>
          <a:solidFill>
            <a:srgbClr val="E4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2040" y="2523744"/>
            <a:ext cx="411480" cy="274320"/>
          </a:xfrm>
          <a:prstGeom prst="rect">
            <a:avLst/>
          </a:prstGeom>
          <a:noFill/>
        </p:spPr>
        <p:txBody>
          <a:bodyPr wrap="square" lIns="0" tIns="0" rIns="0" bIns="0">
            <a:spAutoFit/>
          </a:bodyPr>
          <a:lstStyle/>
          <a:p>
            <a:pPr algn="l">
              <a:lnSpc>
                <a:spcPct val="120000"/>
              </a:lnSpc>
              <a:spcBef>
                <a:spcPts val="0"/>
              </a:spcBef>
              <a:spcAft>
                <a:spcPts val="0"/>
              </a:spcAft>
            </a:pPr>
            <a:r>
              <a:rPr sz="1250" b="1" i="0">
                <a:solidFill>
                  <a:srgbClr val="0E2A60"/>
                </a:solidFill>
                <a:latin typeface="Segoe UI"/>
              </a:rPr>
              <a:t>8</a:t>
            </a:r>
          </a:p>
        </p:txBody>
      </p:sp>
      <p:sp>
        <p:nvSpPr>
          <p:cNvPr id="15" name="TextBox 14"/>
          <p:cNvSpPr txBox="1"/>
          <p:nvPr/>
        </p:nvSpPr>
        <p:spPr>
          <a:xfrm>
            <a:off x="5349240" y="2523744"/>
            <a:ext cx="3108960" cy="320040"/>
          </a:xfrm>
          <a:prstGeom prst="rect">
            <a:avLst/>
          </a:prstGeom>
          <a:noFill/>
        </p:spPr>
        <p:txBody>
          <a:bodyPr wrap="square" lIns="0" tIns="0" rIns="0" bIns="0">
            <a:spAutoFit/>
          </a:bodyPr>
          <a:lstStyle/>
          <a:p>
            <a:pPr algn="l">
              <a:lnSpc>
                <a:spcPct val="120000"/>
              </a:lnSpc>
              <a:spcBef>
                <a:spcPts val="0"/>
              </a:spcBef>
              <a:spcAft>
                <a:spcPts val="0"/>
              </a:spcAft>
            </a:pPr>
            <a:r>
              <a:rPr sz="1200" b="0" i="0">
                <a:solidFill>
                  <a:srgbClr val="33393F"/>
                </a:solidFill>
                <a:latin typeface="Segoe UI"/>
              </a:rPr>
              <a:t>Online routing — RA 11967 Sec. 24</a:t>
            </a:r>
          </a:p>
        </p:txBody>
      </p:sp>
      <p:sp>
        <p:nvSpPr>
          <p:cNvPr id="16" name="Rectangle 15"/>
          <p:cNvSpPr/>
          <p:nvPr/>
        </p:nvSpPr>
        <p:spPr>
          <a:xfrm>
            <a:off x="4892040" y="2798063"/>
            <a:ext cx="3566160" cy="10972"/>
          </a:xfrm>
          <a:prstGeom prst="rect">
            <a:avLst/>
          </a:prstGeom>
          <a:solidFill>
            <a:srgbClr val="E4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2907791"/>
            <a:ext cx="411480" cy="274320"/>
          </a:xfrm>
          <a:prstGeom prst="rect">
            <a:avLst/>
          </a:prstGeom>
          <a:noFill/>
        </p:spPr>
        <p:txBody>
          <a:bodyPr wrap="square" lIns="0" tIns="0" rIns="0" bIns="0">
            <a:spAutoFit/>
          </a:bodyPr>
          <a:lstStyle/>
          <a:p>
            <a:pPr algn="l">
              <a:lnSpc>
                <a:spcPct val="120000"/>
              </a:lnSpc>
              <a:spcBef>
                <a:spcPts val="0"/>
              </a:spcBef>
              <a:spcAft>
                <a:spcPts val="0"/>
              </a:spcAft>
            </a:pPr>
            <a:r>
              <a:rPr sz="1250" b="1" i="0">
                <a:solidFill>
                  <a:srgbClr val="0E2A60"/>
                </a:solidFill>
                <a:latin typeface="Segoe UI"/>
              </a:rPr>
              <a:t>6</a:t>
            </a:r>
          </a:p>
        </p:txBody>
      </p:sp>
      <p:sp>
        <p:nvSpPr>
          <p:cNvPr id="18" name="TextBox 17"/>
          <p:cNvSpPr txBox="1"/>
          <p:nvPr/>
        </p:nvSpPr>
        <p:spPr>
          <a:xfrm>
            <a:off x="5349240" y="2907791"/>
            <a:ext cx="3108960" cy="320040"/>
          </a:xfrm>
          <a:prstGeom prst="rect">
            <a:avLst/>
          </a:prstGeom>
          <a:noFill/>
        </p:spPr>
        <p:txBody>
          <a:bodyPr wrap="square" lIns="0" tIns="0" rIns="0" bIns="0">
            <a:spAutoFit/>
          </a:bodyPr>
          <a:lstStyle/>
          <a:p>
            <a:pPr algn="l">
              <a:lnSpc>
                <a:spcPct val="120000"/>
              </a:lnSpc>
              <a:spcBef>
                <a:spcPts val="0"/>
              </a:spcBef>
              <a:spcAft>
                <a:spcPts val="0"/>
              </a:spcAft>
            </a:pPr>
            <a:r>
              <a:rPr sz="1200" b="0" i="0">
                <a:solidFill>
                  <a:srgbClr val="33393F"/>
                </a:solidFill>
                <a:latin typeface="Segoe UI"/>
              </a:rPr>
              <a:t>Lemon Law eligible</a:t>
            </a:r>
          </a:p>
        </p:txBody>
      </p:sp>
      <p:sp>
        <p:nvSpPr>
          <p:cNvPr id="19" name="Rectangle 18"/>
          <p:cNvSpPr/>
          <p:nvPr/>
        </p:nvSpPr>
        <p:spPr>
          <a:xfrm>
            <a:off x="4892040" y="3182111"/>
            <a:ext cx="3566160" cy="10972"/>
          </a:xfrm>
          <a:prstGeom prst="rect">
            <a:avLst/>
          </a:prstGeom>
          <a:solidFill>
            <a:srgbClr val="E4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291839"/>
            <a:ext cx="411480" cy="274320"/>
          </a:xfrm>
          <a:prstGeom prst="rect">
            <a:avLst/>
          </a:prstGeom>
          <a:noFill/>
        </p:spPr>
        <p:txBody>
          <a:bodyPr wrap="square" lIns="0" tIns="0" rIns="0" bIns="0">
            <a:spAutoFit/>
          </a:bodyPr>
          <a:lstStyle/>
          <a:p>
            <a:pPr algn="l">
              <a:lnSpc>
                <a:spcPct val="120000"/>
              </a:lnSpc>
              <a:spcBef>
                <a:spcPts val="0"/>
              </a:spcBef>
              <a:spcAft>
                <a:spcPts val="0"/>
              </a:spcAft>
            </a:pPr>
            <a:r>
              <a:rPr sz="1250" b="1" i="0">
                <a:solidFill>
                  <a:srgbClr val="0E2A60"/>
                </a:solidFill>
                <a:latin typeface="Segoe UI"/>
              </a:rPr>
              <a:t>8</a:t>
            </a:r>
          </a:p>
        </p:txBody>
      </p:sp>
      <p:sp>
        <p:nvSpPr>
          <p:cNvPr id="21" name="TextBox 20"/>
          <p:cNvSpPr txBox="1"/>
          <p:nvPr/>
        </p:nvSpPr>
        <p:spPr>
          <a:xfrm>
            <a:off x="5349240" y="3291839"/>
            <a:ext cx="3108960" cy="320040"/>
          </a:xfrm>
          <a:prstGeom prst="rect">
            <a:avLst/>
          </a:prstGeom>
          <a:noFill/>
        </p:spPr>
        <p:txBody>
          <a:bodyPr wrap="square" lIns="0" tIns="0" rIns="0" bIns="0">
            <a:spAutoFit/>
          </a:bodyPr>
          <a:lstStyle/>
          <a:p>
            <a:pPr algn="l">
              <a:lnSpc>
                <a:spcPct val="120000"/>
              </a:lnSpc>
              <a:spcBef>
                <a:spcPts val="0"/>
              </a:spcBef>
              <a:spcAft>
                <a:spcPts val="0"/>
              </a:spcAft>
            </a:pPr>
            <a:r>
              <a:rPr sz="1200" b="1" i="0">
                <a:solidFill>
                  <a:srgbClr val="0E2A60"/>
                </a:solidFill>
                <a:latin typeface="Segoe UI"/>
              </a:rPr>
              <a:t>Near-miss — looks covered, is not</a:t>
            </a:r>
          </a:p>
        </p:txBody>
      </p:sp>
      <p:sp>
        <p:nvSpPr>
          <p:cNvPr id="22" name="Rectangle 21"/>
          <p:cNvSpPr/>
          <p:nvPr/>
        </p:nvSpPr>
        <p:spPr>
          <a:xfrm>
            <a:off x="4892040" y="3566159"/>
            <a:ext cx="3566160" cy="10972"/>
          </a:xfrm>
          <a:prstGeom prst="rect">
            <a:avLst/>
          </a:prstGeom>
          <a:solidFill>
            <a:srgbClr val="E4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92040" y="3675887"/>
            <a:ext cx="411480" cy="274320"/>
          </a:xfrm>
          <a:prstGeom prst="rect">
            <a:avLst/>
          </a:prstGeom>
          <a:noFill/>
        </p:spPr>
        <p:txBody>
          <a:bodyPr wrap="square" lIns="0" tIns="0" rIns="0" bIns="0">
            <a:spAutoFit/>
          </a:bodyPr>
          <a:lstStyle/>
          <a:p>
            <a:pPr algn="l">
              <a:lnSpc>
                <a:spcPct val="120000"/>
              </a:lnSpc>
              <a:spcBef>
                <a:spcPts val="0"/>
              </a:spcBef>
              <a:spcAft>
                <a:spcPts val="0"/>
              </a:spcAft>
            </a:pPr>
            <a:r>
              <a:rPr sz="1250" b="1" i="0">
                <a:solidFill>
                  <a:srgbClr val="0E2A60"/>
                </a:solidFill>
                <a:latin typeface="Segoe UI"/>
              </a:rPr>
              <a:t>8</a:t>
            </a:r>
          </a:p>
        </p:txBody>
      </p:sp>
      <p:sp>
        <p:nvSpPr>
          <p:cNvPr id="24" name="TextBox 23"/>
          <p:cNvSpPr txBox="1"/>
          <p:nvPr/>
        </p:nvSpPr>
        <p:spPr>
          <a:xfrm>
            <a:off x="5349240" y="3675887"/>
            <a:ext cx="3108960" cy="320040"/>
          </a:xfrm>
          <a:prstGeom prst="rect">
            <a:avLst/>
          </a:prstGeom>
          <a:noFill/>
        </p:spPr>
        <p:txBody>
          <a:bodyPr wrap="square" lIns="0" tIns="0" rIns="0" bIns="0">
            <a:spAutoFit/>
          </a:bodyPr>
          <a:lstStyle/>
          <a:p>
            <a:pPr algn="l">
              <a:lnSpc>
                <a:spcPct val="120000"/>
              </a:lnSpc>
              <a:spcBef>
                <a:spcPts val="0"/>
              </a:spcBef>
              <a:spcAft>
                <a:spcPts val="0"/>
              </a:spcAft>
            </a:pPr>
            <a:r>
              <a:rPr sz="1200" b="1" i="0">
                <a:solidFill>
                  <a:srgbClr val="0E2A60"/>
                </a:solidFill>
                <a:latin typeface="Segoe UI"/>
              </a:rPr>
              <a:t>Unanswerable — platform policy</a:t>
            </a:r>
          </a:p>
        </p:txBody>
      </p:sp>
      <p:sp>
        <p:nvSpPr>
          <p:cNvPr id="25" name="Rectangle 24"/>
          <p:cNvSpPr/>
          <p:nvPr/>
        </p:nvSpPr>
        <p:spPr>
          <a:xfrm>
            <a:off x="4892040" y="3950207"/>
            <a:ext cx="3566160" cy="10972"/>
          </a:xfrm>
          <a:prstGeom prst="rect">
            <a:avLst/>
          </a:prstGeom>
          <a:solidFill>
            <a:srgbClr val="E4E9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5800" y="4297680"/>
            <a:ext cx="7772400" cy="914400"/>
          </a:xfrm>
          <a:prstGeom prst="roundRect">
            <a:avLst>
              <a:gd name="adj" fmla="val 7000"/>
            </a:avLst>
          </a:prstGeom>
          <a:solidFill>
            <a:srgbClr val="FFFAF0"/>
          </a:solidFill>
          <a:ln w="15875">
            <a:solidFill>
              <a:srgbClr val="F0D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0392" y="4425696"/>
            <a:ext cx="7443216" cy="658368"/>
          </a:xfrm>
          <a:prstGeom prst="rect">
            <a:avLst/>
          </a:prstGeom>
          <a:noFill/>
        </p:spPr>
        <p:txBody>
          <a:bodyPr wrap="square" lIns="0" tIns="0" rIns="0" bIns="0">
            <a:spAutoFit/>
          </a:bodyPr>
          <a:lstStyle/>
          <a:p>
            <a:pPr algn="l">
              <a:lnSpc>
                <a:spcPct val="130000"/>
              </a:lnSpc>
              <a:spcBef>
                <a:spcPts val="0"/>
              </a:spcBef>
              <a:spcAft>
                <a:spcPts val="0"/>
              </a:spcAft>
            </a:pPr>
            <a:r>
              <a:rPr sz="1250" b="1">
                <a:solidFill>
                  <a:srgbClr val="0E2A60"/>
                </a:solidFill>
                <a:latin typeface="Segoe UI"/>
              </a:rPr>
              <a:t>Near-miss example: </a:t>
            </a:r>
            <a:r>
              <a:rPr sz="1250" b="0">
                <a:solidFill>
                  <a:srgbClr val="5C4A1E"/>
                </a:solidFill>
                <a:latin typeface="Segoe UI"/>
              </a:rPr>
              <a:t>"My brand-new motorcycle has been repaired four times." Sec. 3(j) excludes motorcycles — so the four-repair rule does not apply. A retriever matching on surface similarity gets this wrong, visibly.</a:t>
            </a:r>
          </a:p>
        </p:txBody>
      </p:sp>
      <p:sp>
        <p:nvSpPr>
          <p:cNvPr id="28" name="TextBox 27"/>
          <p:cNvSpPr txBox="1"/>
          <p:nvPr/>
        </p:nvSpPr>
        <p:spPr>
          <a:xfrm>
            <a:off x="685800" y="5321808"/>
            <a:ext cx="7772400" cy="365760"/>
          </a:xfrm>
          <a:prstGeom prst="rect">
            <a:avLst/>
          </a:prstGeom>
          <a:noFill/>
        </p:spPr>
        <p:txBody>
          <a:bodyPr wrap="square" lIns="0" tIns="0" rIns="0" bIns="0">
            <a:spAutoFit/>
          </a:bodyPr>
          <a:lstStyle/>
          <a:p>
            <a:pPr algn="l">
              <a:lnSpc>
                <a:spcPct val="120000"/>
              </a:lnSpc>
              <a:spcBef>
                <a:spcPts val="0"/>
              </a:spcBef>
              <a:spcAft>
                <a:spcPts val="0"/>
              </a:spcAft>
            </a:pPr>
            <a:r>
              <a:rPr sz="1500" b="1" i="0">
                <a:solidFill>
                  <a:srgbClr val="0E2A60"/>
                </a:solidFill>
                <a:latin typeface="Segoe UI"/>
              </a:rPr>
              <a:t>Nothing has been collected yet. The survey has not been run.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97880"/>
            <a:ext cx="9144000" cy="566928"/>
          </a:xfrm>
          <a:prstGeom prst="rect">
            <a:avLst/>
          </a:prstGeom>
          <a:solidFill>
            <a:srgbClr val="143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19088"/>
            <a:ext cx="9144000" cy="438912"/>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6455664"/>
            <a:ext cx="9144000" cy="365760"/>
          </a:xfrm>
          <a:prstGeom prst="rect">
            <a:avLst/>
          </a:prstGeom>
          <a:noFill/>
        </p:spPr>
        <p:txBody>
          <a:bodyPr wrap="square" lIns="0" tIns="0" rIns="0" bIns="0">
            <a:spAutoFit/>
          </a:bodyPr>
          <a:lstStyle/>
          <a:p>
            <a:pPr algn="ctr">
              <a:lnSpc>
                <a:spcPct val="120000"/>
              </a:lnSpc>
              <a:spcBef>
                <a:spcPts val="0"/>
              </a:spcBef>
              <a:spcAft>
                <a:spcPts val="0"/>
              </a:spcAft>
            </a:pPr>
            <a:r>
              <a:rPr sz="1100" b="1" i="0">
                <a:solidFill>
                  <a:srgbClr val="0E2A60"/>
                </a:solidFill>
                <a:latin typeface="Segoe UI"/>
              </a:rPr>
              <a:t>JRU RESEARCH AGENDA:</a:t>
            </a:r>
          </a:p>
        </p:txBody>
      </p:sp>
      <p:sp>
        <p:nvSpPr>
          <p:cNvPr id="5" name="TextBox 4"/>
          <p:cNvSpPr txBox="1"/>
          <p:nvPr/>
        </p:nvSpPr>
        <p:spPr>
          <a:xfrm>
            <a:off x="685800" y="475488"/>
            <a:ext cx="7772400" cy="274320"/>
          </a:xfrm>
          <a:prstGeom prst="rect">
            <a:avLst/>
          </a:prstGeom>
          <a:noFill/>
        </p:spPr>
        <p:txBody>
          <a:bodyPr wrap="square" lIns="0" tIns="0" rIns="0" bIns="0">
            <a:spAutoFit/>
          </a:bodyPr>
          <a:lstStyle/>
          <a:p>
            <a:pPr algn="l">
              <a:lnSpc>
                <a:spcPct val="120000"/>
              </a:lnSpc>
              <a:spcBef>
                <a:spcPts val="0"/>
              </a:spcBef>
              <a:spcAft>
                <a:spcPts val="0"/>
              </a:spcAft>
            </a:pPr>
            <a:r>
              <a:rPr sz="1050" b="1" i="0">
                <a:solidFill>
                  <a:srgbClr val="14387F"/>
                </a:solidFill>
                <a:latin typeface="Segoe UI"/>
              </a:rPr>
              <a:t>TASK 5 — MODEL &amp; REFLECTION</a:t>
            </a:r>
          </a:p>
        </p:txBody>
      </p:sp>
      <p:sp>
        <p:nvSpPr>
          <p:cNvPr id="6" name="TextBox 5"/>
          <p:cNvSpPr txBox="1"/>
          <p:nvPr/>
        </p:nvSpPr>
        <p:spPr>
          <a:xfrm>
            <a:off x="685800" y="768096"/>
            <a:ext cx="7772400" cy="960120"/>
          </a:xfrm>
          <a:prstGeom prst="rect">
            <a:avLst/>
          </a:prstGeom>
          <a:noFill/>
        </p:spPr>
        <p:txBody>
          <a:bodyPr wrap="square" lIns="0" tIns="0" rIns="0" bIns="0">
            <a:spAutoFit/>
          </a:bodyPr>
          <a:lstStyle/>
          <a:p>
            <a:pPr algn="l">
              <a:lnSpc>
                <a:spcPct val="110000"/>
              </a:lnSpc>
              <a:spcBef>
                <a:spcPts val="0"/>
              </a:spcBef>
              <a:spcAft>
                <a:spcPts val="0"/>
              </a:spcAft>
            </a:pPr>
            <a:r>
              <a:rPr sz="2500" b="1" i="0">
                <a:solidFill>
                  <a:srgbClr val="0E2A60"/>
                </a:solidFill>
                <a:latin typeface="Segoe UI"/>
              </a:rPr>
              <a:t>A model we can access, a scope we can finish</a:t>
            </a:r>
          </a:p>
        </p:txBody>
      </p:sp>
      <p:sp>
        <p:nvSpPr>
          <p:cNvPr id="7" name="Rectangle 6"/>
          <p:cNvSpPr/>
          <p:nvPr/>
        </p:nvSpPr>
        <p:spPr>
          <a:xfrm>
            <a:off x="685800" y="1773936"/>
            <a:ext cx="1828800" cy="41148"/>
          </a:xfrm>
          <a:prstGeom prst="rect">
            <a:avLst/>
          </a:prstGeom>
          <a:solidFill>
            <a:srgbClr val="F5B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011680"/>
            <a:ext cx="7772400" cy="3108960"/>
          </a:xfrm>
          <a:prstGeom prst="rect">
            <a:avLst/>
          </a:prstGeom>
          <a:noFill/>
        </p:spPr>
        <p:txBody>
          <a:bodyPr wrap="square" lIns="0" tIns="0" rIns="0" bIns="0">
            <a:spAutoFit/>
          </a:bodyPr>
          <a:lstStyle/>
          <a:p>
            <a:pPr algn="l">
              <a:lnSpc>
                <a:spcPct val="132000"/>
              </a:lnSpc>
              <a:spcBef>
                <a:spcPts val="0"/>
              </a:spcBef>
              <a:spcAft>
                <a:spcPts val="1300"/>
              </a:spcAft>
            </a:pPr>
            <a:r>
              <a:rPr sz="1400" b="1">
                <a:solidFill>
                  <a:srgbClr val="F5B81C"/>
                </a:solidFill>
                <a:latin typeface="Segoe UI"/>
              </a:rPr>
              <a:t>▪   </a:t>
            </a:r>
            <a:r>
              <a:rPr sz="1400" b="1">
                <a:solidFill>
                  <a:srgbClr val="0E2A60"/>
                </a:solidFill>
                <a:latin typeface="Segoe UI"/>
              </a:rPr>
              <a:t>openai/gpt-oss-20b</a:t>
            </a:r>
            <a:r>
              <a:rPr sz="1400" b="0">
                <a:solidFill>
                  <a:srgbClr val="33393F"/>
                </a:solidFill>
                <a:latin typeface="Segoe UI"/>
              </a:rPr>
              <a:t> via the Groq API — free tier, no local GPU, fast</a:t>
            </a:r>
          </a:p>
          <a:p>
            <a:pPr algn="l">
              <a:lnSpc>
                <a:spcPct val="132000"/>
              </a:lnSpc>
              <a:spcBef>
                <a:spcPts val="0"/>
              </a:spcBef>
              <a:spcAft>
                <a:spcPts val="1300"/>
              </a:spcAft>
            </a:pPr>
            <a:r>
              <a:rPr sz="1400" b="1">
                <a:solidFill>
                  <a:srgbClr val="F5B81C"/>
                </a:solidFill>
                <a:latin typeface="Segoe UI"/>
              </a:rPr>
              <a:t>▪   </a:t>
            </a:r>
            <a:r>
              <a:rPr sz="1400" b="0">
                <a:solidFill>
                  <a:srgbClr val="33393F"/>
                </a:solidFill>
                <a:latin typeface="Segoe UI"/>
              </a:rPr>
              <a:t>Follows prompt constraints reliably — the property groundedness depends on</a:t>
            </a:r>
          </a:p>
          <a:p>
            <a:pPr algn="l">
              <a:lnSpc>
                <a:spcPct val="132000"/>
              </a:lnSpc>
              <a:spcBef>
                <a:spcPts val="0"/>
              </a:spcBef>
              <a:spcAft>
                <a:spcPts val="1300"/>
              </a:spcAft>
            </a:pPr>
            <a:r>
              <a:rPr sz="1400" b="1">
                <a:solidFill>
                  <a:srgbClr val="F5B81C"/>
                </a:solidFill>
                <a:latin typeface="Segoe UI"/>
              </a:rPr>
              <a:t>▪   </a:t>
            </a:r>
            <a:r>
              <a:rPr sz="1400" b="0">
                <a:solidFill>
                  <a:srgbClr val="33393F"/>
                </a:solidFill>
                <a:latin typeface="Segoe UI"/>
              </a:rPr>
              <a:t>A </a:t>
            </a:r>
            <a:r>
              <a:rPr sz="1400" b="1">
                <a:solidFill>
                  <a:srgbClr val="0E2A60"/>
                </a:solidFill>
                <a:latin typeface="Segoe UI"/>
              </a:rPr>
              <a:t>reader</a:t>
            </a:r>
            <a:r>
              <a:rPr sz="1400" b="0">
                <a:solidFill>
                  <a:srgbClr val="33393F"/>
                </a:solidFill>
                <a:latin typeface="Segoe UI"/>
              </a:rPr>
              <a:t>, not a legal authority: any rule not in the retrieved passage is a failure, even if true elsewhere</a:t>
            </a:r>
          </a:p>
          <a:p>
            <a:pPr algn="l">
              <a:lnSpc>
                <a:spcPct val="132000"/>
              </a:lnSpc>
              <a:spcBef>
                <a:spcPts val="0"/>
              </a:spcBef>
              <a:spcAft>
                <a:spcPts val="1300"/>
              </a:spcAft>
            </a:pPr>
            <a:r>
              <a:rPr sz="1400" b="1">
                <a:solidFill>
                  <a:srgbClr val="F5B81C"/>
                </a:solidFill>
                <a:latin typeface="Segoe UI"/>
              </a:rPr>
              <a:t>▪   </a:t>
            </a:r>
            <a:r>
              <a:rPr sz="1400" b="1">
                <a:solidFill>
                  <a:srgbClr val="0E2A60"/>
                </a:solidFill>
                <a:latin typeface="Segoe UI"/>
              </a:rPr>
              <a:t>Closed answer space:</a:t>
            </a:r>
            <a:r>
              <a:rPr sz="1400" b="0">
                <a:solidFill>
                  <a:srgbClr val="33393F"/>
                </a:solidFill>
                <a:latin typeface="Segoe UI"/>
              </a:rPr>
              <a:t> one label out of five. We can write the complete list of correct answers before collecting a single question</a:t>
            </a:r>
          </a:p>
        </p:txBody>
      </p:sp>
      <p:sp>
        <p:nvSpPr>
          <p:cNvPr id="9" name="Rounded Rectangle 8"/>
          <p:cNvSpPr/>
          <p:nvPr/>
        </p:nvSpPr>
        <p:spPr>
          <a:xfrm>
            <a:off x="685800" y="4526280"/>
            <a:ext cx="7772400" cy="777240"/>
          </a:xfrm>
          <a:prstGeom prst="roundRect">
            <a:avLst>
              <a:gd name="adj" fmla="val 7000"/>
            </a:avLst>
          </a:prstGeom>
          <a:solidFill>
            <a:srgbClr val="FFFAF0"/>
          </a:solidFill>
          <a:ln w="15875">
            <a:solidFill>
              <a:srgbClr val="F0D7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4654296"/>
            <a:ext cx="7443216" cy="521207"/>
          </a:xfrm>
          <a:prstGeom prst="rect">
            <a:avLst/>
          </a:prstGeom>
          <a:noFill/>
        </p:spPr>
        <p:txBody>
          <a:bodyPr wrap="square" lIns="0" tIns="0" rIns="0" bIns="0">
            <a:spAutoFit/>
          </a:bodyPr>
          <a:lstStyle/>
          <a:p>
            <a:pPr algn="l">
              <a:lnSpc>
                <a:spcPct val="130000"/>
              </a:lnSpc>
              <a:spcBef>
                <a:spcPts val="0"/>
              </a:spcBef>
              <a:spcAft>
                <a:spcPts val="0"/>
              </a:spcAft>
            </a:pPr>
            <a:r>
              <a:rPr sz="1250" b="1">
                <a:solidFill>
                  <a:srgbClr val="0E2A60"/>
                </a:solidFill>
                <a:latin typeface="Segoe UI"/>
              </a:rPr>
              <a:t>What we are deliberately not doing: </a:t>
            </a:r>
            <a:r>
              <a:rPr sz="1250" b="0">
                <a:solidFill>
                  <a:srgbClr val="5C4A1E"/>
                </a:solidFill>
                <a:latin typeface="Segoe UI"/>
              </a:rPr>
              <a:t>no legal advice · no platform evaluated · no prediction of how a case would be decided · no jurisdiction outside the Philippines.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1427</Words>
  <Application>Microsoft Office PowerPoint</Application>
  <PresentationFormat>On-screen Show (4:3)</PresentationFormat>
  <Paragraphs>99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Mark Emmanuel Sagarino</cp:lastModifiedBy>
  <cp:revision>1</cp:revision>
  <dcterms:created xsi:type="dcterms:W3CDTF">2013-01-27T09:14:16Z</dcterms:created>
  <dcterms:modified xsi:type="dcterms:W3CDTF">2026-09-29T06:51:28Z</dcterms:modified>
  <cp:category/>
</cp:coreProperties>
</file>